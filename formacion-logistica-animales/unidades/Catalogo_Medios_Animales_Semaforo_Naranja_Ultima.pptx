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82"/>
    <p:restoredTop sz="94610"/>
  </p:normalViewPr>
  <p:slideViewPr>
    <p:cSldViewPr snapToGrid="0" snapToObjects="1">
      <p:cViewPr varScale="1">
        <p:scale>
          <a:sx n="283" d="100"/>
          <a:sy n="283" d="100"/>
        </p:scale>
        <p:origin x="20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30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Píldora de 15 minutos. Objetivo: saber qué medios y recursos debe tener catalogados el Ayuntamiento para que, cuando el PEVOLCA declare semáforo naranja en Chirche o Aripe, el Grupo Logístico pueda evacuar y acoger animales de explotaciones ganaderas y de compañía. La base es el Decreto 195/2022, que incorpora como Anexo 8 del PLATECA el Protocolo de actuación frente a los animales, y el PEMU de Guía de Isora.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no crea un catálogo nuevo: remite al del PLATECA y dice dónde va cada cosa. Medios humanos en el subepígrafe 1.4 (Grupos de Apoyo); medios de transporte en el 2.3.2; medios de albergue y abastecimiento en el 2.3.3; sanitarios en el 2.3.4; auxiliares en el 2.3.6; y los lugares de albergue y almacenamiento en el 3.4. A eso hay que sumar la información previa que el Protocolo pone como objetivo: censos actualizados, catálogo de medios para el traslado de animales e inventario de explotaciones y núcleos. En el PEMU, el Grupo de Logística trabaja con los medios propios del Ayuntamiento y con los privados recogidos en su Catálogo de Medios, por eso tienen que estar ahí antes de la alerta máxima.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información no hay catálogo útil. El Protocolo pide contar con censos actualizados y con un inventario de explotaciones, núcleos zoológicos y centros de recogida que señale expresamente los que no pueden evacuar por sus propios medios, porque esos dependerán del Grupo Logístico. Para el ganado, el censo sale del Registro de Explotaciones Ganaderas de Canarias y cada explotación debe tener su plan de evacuación. Para las mascotas, el censo municipal y el Registro Canario de Identificación Animal. El Anexo 4 recuerda además los animales atados o sueltos en fincas no habitadas, que necesitan inventario previo. El PEMU, con datos de 2009, recoge casi 6.000 cabezas, sobre todo caprino y ovino, y señala ganadería doméstica en Aripe y Chirche, así que hay que contar con animales que no figuran en ningún censo.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catálogo tiene que tener nombres y teléfonos, no solo categorías. El Protocolo fija la composición mínima de la Unidad de Evacuación de Animales: personal veterinario de triaje, una jefatura de cuadrilla, operarios de Protección Civil y auxiliares de protección animal. Puede sumar personal técnico agrícola y de biología, y el personal de agricultura se encarga de la alimentación y el ordeño en los centros, algo clave en un municipio de caprino lechero. El voluntariado de Protección Civil y de protección animal debe estar en un listado previo, que se activa según la gravedad, y llevar prenda identificativa. El Grupo de Seguridad, con Seprona y Agentes de Medio Ambiente, apoya en accesos y en la seguridad de los centros de protección animal.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dice que el transporte del ganado se hará en vehículos de recogida de animales o preparados para ello, y que por eso hace falta un listado de contactos y de medios de transporte. Uno de sus objetivos es precisamente elaborar un catálogo de medios disponibles para el traslado de los animales. Las mascotas se evacúan preferentemente con sus dueños; si no pueden llevarlas, van a centros de protección animal o con voluntarios de acogida. Para que el catálogo sirva, cada vehículo necesita una ficha con titular, contacto permanente, tipo, capacidad, tiempo de llegada y cómo se moviliza.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prioriza que los animales estén en los centros de protección animal que ya figuren en los planes insular y municipal. Si los planes no los contemplan, Cabildo y Ayuntamiento pueden habilitar zonas durante la emergencia en fincas con dimensiones suficientes, y el Área de Ganadería del Cabildo puede proponer centros para ganado, que deben figurar en el catálogo y comunicarse a la jefatura de Logística. Al calcular plazas hay que tener en cuenta que las mascotas no pueden entrar en los albergues de personas, salvo los perros de asistencia, que hay que preparar espacios propios para animales potencialmente peligrosos y que todos los animales pasan filiación y control veterinario.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Aterrizamos el catálogo en el caso del simulacro. Para las cabras de Chirche solo tenemos una explotación de ovino en Camino La Tablada, sin capacidad conocida y con dos dudas: la bioseguridad al juntar caprino y ovino y si queda fuera de la zona de riesgo. Para los perros de la protectora de Aripe la residencia de Pista de Alzola, fuera de la zona, da hasta 100 plazas y La Traílla tiene convenio de recogida: está cubierto si se confirma la disponibilidad. Para la colonia de gatos solo está Salva Misio Isora, sin capacidad definida: es el punto débil. El centro municipal, con 4 perros y 2 gatos, conviene reservarlo para animales heridos o que necesiten atención especial. Conclusión: el catálogo necesita capacidades confirmadas y convenios firmados.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material que el Protocolo pide para que un centro o zona habilitada funcione. Para el ganado: vallas, cercas o naves desmontables por especie, bebederos y comederos portátiles, y un lugar con sombra, agua, alimento, generación eléctrica y depósito de residuos. Provisión de agua y alimento no perecedero para varios días y medicación, supervisadas por veterinario; en un volcán, además, la ceniza contamina pastos y agua, así que el suministro debe venir de fuera. En lo sanitario, triaje y ficha, sedación si hace falta, y los animales muertos se identifican a efectos del seguro. Como material auxiliar: cuerdas o lazos, palas, cubos, basureros con tapa, lonas, el equipo de captura y el equipo de protección individual del personal. Todo esto tiene que estar localizado, en almacén o con proveedor identificado.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da preferencia a los medios públicos frente a los privados, y dentro de los públicos, a los de la Administración Local, porque es la que da la primera respuesta con la información más precisa; después, los de la Comunidad Autónoma. Si hace falta un medio extraordinario no planificado, se pide a la administración que lo tenga. Los medios privados se movilizan por contratación pública, y para eso hay que tener prevista la disponibilidad presupuestaria. Si no es posible, se firman convenios con organizaciones, incluidas las de profesionales de la emergencia animal. El PEMU lo encaja igual: el Grupo de Logística usa medios municipales y privados del Catálogo, y si la catástrofe lo supera, la Dirección busca medios de otras administraciones o empresas de fuera del municipio.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un minuto. Esta es la lista para revisar el catálogo del PEMU: censos, planes de explotación, inventario de quienes no pueden salir solos, transporte con contactos, centros con plazas por especie, una zona para ganado que cumpla el Anexo 3, voluntariado y acogida, material y EPI, y los convenios y el presupuesto. Si en semáforo naranja hay que empezar a buscar alguno de estos elementos, llegamos tarde para los animales. Enlace con el simulacro: en él comprobaremos cuántos de estos puntos tenemos realmente resueltos.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3A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5394960" cy="1554480"/>
          </a:xfrm>
          <a:prstGeom prst="rect">
            <a:avLst/>
          </a:prstGeom>
          <a:noFill/>
          <a:ln/>
        </p:spPr>
        <p:txBody>
          <a:bodyPr wrap="square" rtlCol="0"/>
          <a:lstStyle>
            <a:lvl1pPr marL="0" indent="0" algn="l">
              <a:buNone/>
              <a:defRPr lang="en-US" sz="32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a:spLocks noGrp="1"/>
          </p:cNvSpPr>
          <p:nvPr>
            <p:ph type="body" idx="101" hasCustomPrompt="1"/>
          </p:nvPr>
        </p:nvSpPr>
        <p:spPr>
          <a:xfrm>
            <a:off x="548640" y="2926080"/>
            <a:ext cx="5394960" cy="822960"/>
          </a:xfrm>
          <a:prstGeom prst="rect">
            <a:avLst/>
          </a:prstGeom>
          <a:noFill/>
          <a:ln/>
        </p:spPr>
        <p:txBody>
          <a:bodyPr wrap="square" rtlCol="0"/>
          <a:lstStyle>
            <a:lvl1pPr marL="0" indent="0" algn="l">
              <a:buNone/>
              <a:defRPr lang="en-US" sz="1500" dirty="0">
                <a:solidFill>
                  <a:schemeClr val="bg2"/>
                </a:solidFill>
                <a:latin typeface="Calibri" pitchFamily="34" charset="0"/>
                <a:ea typeface="Calibri" pitchFamily="34" charset="-122"/>
                <a:cs typeface="Calibri" pitchFamily="34" charset="-120"/>
              </a:defRPr>
            </a:lvl1pPr>
          </a:lstStyle>
          <a:p>
            <a:pPr marL="0" indent="0" algn="l">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rtlCol="0"/>
          <a:lstStyle>
            <a:lvl1pPr marL="0" indent="0" algn="l">
              <a:buNone/>
              <a:defRPr lang="en-US" sz="2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2400" dirty="0"/>
          </a:p>
        </p:txBody>
      </p:sp>
      <p:sp>
        <p:nvSpPr>
          <p:cNvPr id="3" name="Text 0"/>
          <p:cNvSpPr/>
          <p:nvPr/>
        </p:nvSpPr>
        <p:spPr>
          <a:xfrm>
            <a:off x="457200" y="4800600"/>
            <a:ext cx="7315200" cy="228600"/>
          </a:xfrm>
          <a:prstGeom prst="rect">
            <a:avLst/>
          </a:prstGeom>
          <a:noFill/>
          <a:ln/>
        </p:spPr>
        <p:txBody>
          <a:bodyPr wrap="square" lIns="0" tIns="0" rIns="0" bIns="0" rtlCol="0" anchor="ctr"/>
          <a:lstStyle/>
          <a:p>
            <a:pPr marL="0" indent="0">
              <a:buNone/>
            </a:pPr>
            <a:r>
              <a:rPr lang="en-US" sz="800" dirty="0">
                <a:solidFill>
                  <a:schemeClr val="accent5"/>
                </a:solidFill>
                <a:latin typeface="Calibri" pitchFamily="34" charset="0"/>
                <a:ea typeface="Calibri" pitchFamily="34" charset="-122"/>
                <a:cs typeface="Calibri" pitchFamily="34" charset="-120"/>
              </a:rPr>
              <a:t>Píldora formativa · Catálogo de medios para animales · PEMU Guía de Isora · Decreto 195/2022</a:t>
            </a:r>
            <a:endParaRPr lang="en-US" sz="8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F3A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2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5394960" cy="1554480"/>
          </a:xfrm>
          <a:prstGeom prst="rect">
            <a:avLst/>
          </a:prstGeom>
          <a:noFill/>
          <a:ln/>
        </p:spPr>
        <p:txBody>
          <a:bodyPr wrap="square" lIns="0" tIns="0" rIns="0" bIns="0" rtlCol="0" anchor="b"/>
          <a:lstStyle/>
          <a:p>
            <a:pPr marL="0" indent="0" algn="l">
              <a:buNone/>
            </a:pPr>
            <a:r>
              <a:rPr lang="en-US" sz="3200" b="1" dirty="0">
                <a:solidFill>
                  <a:schemeClr val="bg1"/>
                </a:solidFill>
                <a:latin typeface="Cambria" pitchFamily="34" charset="0"/>
                <a:ea typeface="Cambria" pitchFamily="34" charset="-122"/>
                <a:cs typeface="Cambria" pitchFamily="34" charset="-120"/>
              </a:rPr>
              <a:t>Catálogo de medios y recursos para evacuar animales</a:t>
            </a:r>
            <a:endParaRPr lang="en-US" sz="3200" dirty="0"/>
          </a:p>
        </p:txBody>
      </p:sp>
      <p:sp>
        <p:nvSpPr>
          <p:cNvPr id="3" name="Text 0"/>
          <p:cNvSpPr>
            <a:spLocks noGrp="1"/>
          </p:cNvSpPr>
          <p:nvPr>
            <p:ph type="body" idx="101" hasCustomPrompt="1"/>
          </p:nvPr>
        </p:nvSpPr>
        <p:spPr>
          <a:xfrm>
            <a:off x="548640" y="2926080"/>
            <a:ext cx="5394960" cy="822960"/>
          </a:xfrm>
          <a:prstGeom prst="rect">
            <a:avLst/>
          </a:prstGeom>
          <a:noFill/>
          <a:ln/>
        </p:spPr>
        <p:txBody>
          <a:bodyPr wrap="square" lIns="0" tIns="0" rIns="0" bIns="0" rtlCol="0" anchor="t"/>
          <a:lstStyle/>
          <a:p>
            <a:pPr marL="0" indent="0" algn="l">
              <a:buNone/>
            </a:pPr>
            <a:r>
              <a:rPr lang="en-US" sz="1500" dirty="0">
                <a:solidFill>
                  <a:schemeClr val="bg2"/>
                </a:solidFill>
                <a:latin typeface="Calibri" pitchFamily="34" charset="0"/>
                <a:ea typeface="Calibri" pitchFamily="34" charset="-122"/>
                <a:cs typeface="Calibri" pitchFamily="34" charset="-120"/>
              </a:rPr>
              <a:t>Píldora formativa de logística y acogida · Riesgo volcánico, semáforo naranja</a:t>
            </a:r>
            <a:endParaRPr lang="en-US" sz="1500" dirty="0"/>
          </a:p>
        </p:txBody>
      </p:sp>
      <p:sp>
        <p:nvSpPr>
          <p:cNvPr id="4" name="Text 2"/>
          <p:cNvSpPr txBox="1"/>
          <p:nvPr/>
        </p:nvSpPr>
        <p:spPr>
          <a:xfrm>
            <a:off x="548640" y="4343400"/>
            <a:ext cx="5486400" cy="274320"/>
          </a:xfrm>
          <a:prstGeom prst="rect">
            <a:avLst/>
          </a:prstGeom>
          <a:noFill/>
          <a:ln/>
        </p:spPr>
        <p:txBody>
          <a:bodyPr wrap="square" lIns="0" tIns="0" rIns="0" bIns="0" rtlCol="0" anchor="t"/>
          <a:lstStyle/>
          <a:p>
            <a:pPr marL="0" indent="0">
              <a:buNone/>
            </a:pPr>
            <a:r>
              <a:rPr lang="en-US" sz="1100" dirty="0">
                <a:solidFill>
                  <a:schemeClr val="accent6"/>
                </a:solidFill>
                <a:latin typeface="Calibri" pitchFamily="34" charset="0"/>
                <a:ea typeface="Calibri" pitchFamily="34" charset="-122"/>
                <a:cs typeface="Calibri" pitchFamily="34" charset="-120"/>
              </a:rPr>
              <a:t>PEMU de Guía de Isora · Decreto 195/2022 (Anexo 8 del PLATECA)</a:t>
            </a:r>
            <a:endParaRPr lang="en-US" sz="1100" dirty="0"/>
          </a:p>
        </p:txBody>
      </p:sp>
      <p:sp>
        <p:nvSpPr>
          <p:cNvPr id="5" name="circulo-huella"/>
          <p:cNvSpPr/>
          <p:nvPr/>
        </p:nvSpPr>
        <p:spPr>
          <a:xfrm>
            <a:off x="6400800" y="1005840"/>
            <a:ext cx="2103120" cy="2103120"/>
          </a:xfrm>
          <a:prstGeom prst="ellipse">
            <a:avLst/>
          </a:prstGeom>
          <a:solidFill>
            <a:schemeClr val="accent1"/>
          </a:solidFill>
          <a:ln w="12700">
            <a:solidFill>
              <a:schemeClr val="accent1"/>
            </a:solidFill>
            <a:prstDash val="solid"/>
          </a:ln>
        </p:spPr>
      </p:sp>
      <p:pic>
        <p:nvPicPr>
          <p:cNvPr id="6" name="icono-huella" descr="preencoded.png"/>
          <p:cNvPicPr>
            <a:picLocks noChangeAspect="1"/>
          </p:cNvPicPr>
          <p:nvPr/>
        </p:nvPicPr>
        <p:blipFill>
          <a:blip r:embed="rId3"/>
          <a:stretch>
            <a:fillRect/>
          </a:stretch>
        </p:blipFill>
        <p:spPr>
          <a:xfrm>
            <a:off x="6949440" y="1554480"/>
            <a:ext cx="1005840" cy="1005840"/>
          </a:xfrm>
          <a:prstGeom prst="rect">
            <a:avLst/>
          </a:prstGeom>
        </p:spPr>
      </p:pic>
      <p:sp>
        <p:nvSpPr>
          <p:cNvPr id="7" name="circulo-volcan"/>
          <p:cNvSpPr/>
          <p:nvPr/>
        </p:nvSpPr>
        <p:spPr>
          <a:xfrm>
            <a:off x="7406640" y="2697480"/>
            <a:ext cx="1097280" cy="1097280"/>
          </a:xfrm>
          <a:prstGeom prst="ellipse">
            <a:avLst/>
          </a:prstGeom>
          <a:solidFill>
            <a:schemeClr val="accent3"/>
          </a:solidFill>
          <a:ln w="38100">
            <a:solidFill>
              <a:srgbClr val="1F3A2E"/>
            </a:solidFill>
            <a:prstDash val="solid"/>
          </a:ln>
        </p:spPr>
      </p:sp>
      <p:pic>
        <p:nvPicPr>
          <p:cNvPr id="8" name="icono-volcan" descr="preencoded.png"/>
          <p:cNvPicPr>
            <a:picLocks noChangeAspect="1"/>
          </p:cNvPicPr>
          <p:nvPr/>
        </p:nvPicPr>
        <p:blipFill>
          <a:blip r:embed="rId4"/>
          <a:stretch>
            <a:fillRect/>
          </a:stretch>
        </p:blipFill>
        <p:spPr>
          <a:xfrm>
            <a:off x="7662672" y="2953512"/>
            <a:ext cx="585216" cy="585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Qué debe contener el catálogo según el Decreto 195/2022</a:t>
            </a:r>
            <a:endParaRPr lang="en-US" sz="2400" dirty="0"/>
          </a:p>
        </p:txBody>
      </p:sp>
      <p:sp>
        <p:nvSpPr>
          <p:cNvPr id="3" name="Text 1"/>
          <p:cNvSpPr txBox="1"/>
          <p:nvPr/>
        </p:nvSpPr>
        <p:spPr>
          <a:xfrm>
            <a:off x="457200" y="868680"/>
            <a:ext cx="8229600" cy="3657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El Anexo 3 del Protocolo remite al capítulo 6 y al Anexo 3 del PLATECA. Cada tipo de medio tiene su sitio:</a:t>
            </a:r>
            <a:endParaRPr lang="en-US" sz="1300" dirty="0"/>
          </a:p>
        </p:txBody>
      </p:sp>
      <p:sp>
        <p:nvSpPr>
          <p:cNvPr id="4" name="tarjeta-1"/>
          <p:cNvSpPr/>
          <p:nvPr/>
        </p:nvSpPr>
        <p:spPr>
          <a:xfrm>
            <a:off x="457200" y="1371600"/>
            <a:ext cx="2651760" cy="1188720"/>
          </a:xfrm>
          <a:prstGeom prst="roundRect">
            <a:avLst>
              <a:gd name="adj" fmla="val 6154"/>
            </a:avLst>
          </a:prstGeom>
          <a:solidFill>
            <a:schemeClr val="bg2"/>
          </a:solidFill>
          <a:ln w="12700">
            <a:solidFill>
              <a:schemeClr val="bg2"/>
            </a:solidFill>
            <a:prstDash val="solid"/>
          </a:ln>
        </p:spPr>
      </p:sp>
      <p:sp>
        <p:nvSpPr>
          <p:cNvPr id="5" name="circulo-FaClipboardList"/>
          <p:cNvSpPr/>
          <p:nvPr/>
        </p:nvSpPr>
        <p:spPr>
          <a:xfrm>
            <a:off x="640080" y="1645920"/>
            <a:ext cx="640080" cy="640080"/>
          </a:xfrm>
          <a:prstGeom prst="ellipse">
            <a:avLst/>
          </a:prstGeom>
          <a:solidFill>
            <a:schemeClr val="accent5"/>
          </a:solidFill>
          <a:ln w="12700">
            <a:solidFill>
              <a:schemeClr val="accent5"/>
            </a:solidFill>
            <a:prstDash val="solid"/>
          </a:ln>
        </p:spPr>
      </p:sp>
      <p:pic>
        <p:nvPicPr>
          <p:cNvPr id="6" name="icono-FaClipboardList" descr="preencoded.png"/>
          <p:cNvPicPr>
            <a:picLocks noChangeAspect="1"/>
          </p:cNvPicPr>
          <p:nvPr/>
        </p:nvPicPr>
        <p:blipFill>
          <a:blip r:embed="rId3"/>
          <a:stretch>
            <a:fillRect/>
          </a:stretch>
        </p:blipFill>
        <p:spPr>
          <a:xfrm>
            <a:off x="793699" y="1799539"/>
            <a:ext cx="332842" cy="332842"/>
          </a:xfrm>
          <a:prstGeom prst="rect">
            <a:avLst/>
          </a:prstGeom>
        </p:spPr>
      </p:pic>
      <p:sp>
        <p:nvSpPr>
          <p:cNvPr id="7" name="Text 4"/>
          <p:cNvSpPr txBox="1"/>
          <p:nvPr/>
        </p:nvSpPr>
        <p:spPr>
          <a:xfrm>
            <a:off x="1417320" y="14813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Información previa</a:t>
            </a:r>
            <a:endParaRPr lang="en-US" sz="1400" dirty="0"/>
          </a:p>
        </p:txBody>
      </p:sp>
      <p:sp>
        <p:nvSpPr>
          <p:cNvPr id="8" name="Text 5"/>
          <p:cNvSpPr txBox="1"/>
          <p:nvPr/>
        </p:nvSpPr>
        <p:spPr>
          <a:xfrm>
            <a:off x="1417320" y="2048256"/>
            <a:ext cx="1461013" cy="411480"/>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ea typeface="Calibri" pitchFamily="34" charset="-122"/>
                <a:cs typeface="Calibri" pitchFamily="34" charset="-120"/>
              </a:rPr>
              <a:t>Censos e </a:t>
            </a:r>
            <a:r>
              <a:rPr lang="en-US" sz="1100" dirty="0" err="1">
                <a:solidFill>
                  <a:schemeClr val="accent5"/>
                </a:solidFill>
                <a:latin typeface="Calibri" pitchFamily="34" charset="0"/>
                <a:ea typeface="Calibri" pitchFamily="34" charset="-122"/>
                <a:cs typeface="Calibri" pitchFamily="34" charset="-120"/>
              </a:rPr>
              <a:t>inventarios</a:t>
            </a:r>
            <a:r>
              <a:rPr lang="en-US" sz="1100" dirty="0">
                <a:solidFill>
                  <a:schemeClr val="accent5"/>
                </a:solidFill>
                <a:latin typeface="Calibri" pitchFamily="34" charset="0"/>
                <a:ea typeface="Calibri" pitchFamily="34" charset="-122"/>
                <a:cs typeface="Calibri" pitchFamily="34" charset="-120"/>
              </a:rPr>
              <a:t>.</a:t>
            </a:r>
            <a:endParaRPr lang="en-US" sz="1100" dirty="0"/>
          </a:p>
        </p:txBody>
      </p:sp>
      <p:sp>
        <p:nvSpPr>
          <p:cNvPr id="9" name="tarjeta-2"/>
          <p:cNvSpPr/>
          <p:nvPr/>
        </p:nvSpPr>
        <p:spPr>
          <a:xfrm>
            <a:off x="3246120" y="1371600"/>
            <a:ext cx="2651760" cy="1188720"/>
          </a:xfrm>
          <a:prstGeom prst="roundRect">
            <a:avLst>
              <a:gd name="adj" fmla="val 6154"/>
            </a:avLst>
          </a:prstGeom>
          <a:solidFill>
            <a:schemeClr val="bg2"/>
          </a:solidFill>
          <a:ln w="12700">
            <a:solidFill>
              <a:schemeClr val="bg2"/>
            </a:solidFill>
            <a:prstDash val="solid"/>
          </a:ln>
        </p:spPr>
      </p:sp>
      <p:sp>
        <p:nvSpPr>
          <p:cNvPr id="10" name="circulo-FaPeopleGroup"/>
          <p:cNvSpPr/>
          <p:nvPr/>
        </p:nvSpPr>
        <p:spPr>
          <a:xfrm>
            <a:off x="3429000" y="1645920"/>
            <a:ext cx="640080" cy="640080"/>
          </a:xfrm>
          <a:prstGeom prst="ellipse">
            <a:avLst/>
          </a:prstGeom>
          <a:solidFill>
            <a:schemeClr val="accent2"/>
          </a:solidFill>
          <a:ln w="12700">
            <a:solidFill>
              <a:schemeClr val="accent2"/>
            </a:solidFill>
            <a:prstDash val="solid"/>
          </a:ln>
        </p:spPr>
      </p:sp>
      <p:pic>
        <p:nvPicPr>
          <p:cNvPr id="11" name="icono-FaPeopleGroup" descr="preencoded.png"/>
          <p:cNvPicPr>
            <a:picLocks noChangeAspect="1"/>
          </p:cNvPicPr>
          <p:nvPr/>
        </p:nvPicPr>
        <p:blipFill>
          <a:blip r:embed="rId4"/>
          <a:stretch>
            <a:fillRect/>
          </a:stretch>
        </p:blipFill>
        <p:spPr>
          <a:xfrm>
            <a:off x="3582619" y="1799539"/>
            <a:ext cx="332842" cy="332842"/>
          </a:xfrm>
          <a:prstGeom prst="rect">
            <a:avLst/>
          </a:prstGeom>
        </p:spPr>
      </p:pic>
      <p:sp>
        <p:nvSpPr>
          <p:cNvPr id="12" name="Text 8"/>
          <p:cNvSpPr txBox="1"/>
          <p:nvPr/>
        </p:nvSpPr>
        <p:spPr>
          <a:xfrm>
            <a:off x="4206240" y="14813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Medios humanos</a:t>
            </a:r>
            <a:endParaRPr lang="en-US" sz="1400" dirty="0"/>
          </a:p>
        </p:txBody>
      </p:sp>
      <p:sp>
        <p:nvSpPr>
          <p:cNvPr id="13" name="Text 9"/>
          <p:cNvSpPr txBox="1"/>
          <p:nvPr/>
        </p:nvSpPr>
        <p:spPr>
          <a:xfrm>
            <a:off x="4206240" y="2048256"/>
            <a:ext cx="1554480" cy="411480"/>
          </a:xfrm>
          <a:prstGeom prst="rect">
            <a:avLst/>
          </a:prstGeom>
          <a:noFill/>
          <a:ln/>
        </p:spPr>
        <p:txBody>
          <a:bodyPr wrap="square" lIns="0" tIns="0" rIns="0" bIns="0" rtlCol="0" anchor="t"/>
          <a:lstStyle/>
          <a:p>
            <a:pPr marL="0" indent="0">
              <a:buNone/>
            </a:pPr>
            <a:r>
              <a:rPr lang="en-US" sz="1100" dirty="0" err="1">
                <a:solidFill>
                  <a:schemeClr val="accent5"/>
                </a:solidFill>
                <a:latin typeface="Calibri" pitchFamily="34" charset="0"/>
                <a:ea typeface="Calibri" pitchFamily="34" charset="-122"/>
                <a:cs typeface="Calibri" pitchFamily="34" charset="-120"/>
              </a:rPr>
              <a:t>Grupos</a:t>
            </a:r>
            <a:r>
              <a:rPr lang="en-US" sz="1100" dirty="0">
                <a:solidFill>
                  <a:schemeClr val="accent5"/>
                </a:solidFill>
                <a:latin typeface="Calibri" pitchFamily="34" charset="0"/>
                <a:ea typeface="Calibri" pitchFamily="34" charset="-122"/>
                <a:cs typeface="Calibri" pitchFamily="34" charset="-120"/>
              </a:rPr>
              <a:t> de Apoyo</a:t>
            </a:r>
            <a:endParaRPr lang="en-US" sz="1100" dirty="0"/>
          </a:p>
        </p:txBody>
      </p:sp>
      <p:sp>
        <p:nvSpPr>
          <p:cNvPr id="14" name="tarjeta-3"/>
          <p:cNvSpPr/>
          <p:nvPr/>
        </p:nvSpPr>
        <p:spPr>
          <a:xfrm>
            <a:off x="6035040" y="1371600"/>
            <a:ext cx="2651760" cy="1188720"/>
          </a:xfrm>
          <a:prstGeom prst="roundRect">
            <a:avLst>
              <a:gd name="adj" fmla="val 6154"/>
            </a:avLst>
          </a:prstGeom>
          <a:solidFill>
            <a:schemeClr val="bg2"/>
          </a:solidFill>
          <a:ln w="12700">
            <a:solidFill>
              <a:schemeClr val="bg2"/>
            </a:solidFill>
            <a:prstDash val="solid"/>
          </a:ln>
        </p:spPr>
      </p:sp>
      <p:sp>
        <p:nvSpPr>
          <p:cNvPr id="15" name="circulo-FaTruck"/>
          <p:cNvSpPr/>
          <p:nvPr/>
        </p:nvSpPr>
        <p:spPr>
          <a:xfrm>
            <a:off x="6217920" y="1645920"/>
            <a:ext cx="640080" cy="640080"/>
          </a:xfrm>
          <a:prstGeom prst="ellipse">
            <a:avLst/>
          </a:prstGeom>
          <a:solidFill>
            <a:schemeClr val="accent1"/>
          </a:solidFill>
          <a:ln w="12700">
            <a:solidFill>
              <a:schemeClr val="accent1"/>
            </a:solidFill>
            <a:prstDash val="solid"/>
          </a:ln>
        </p:spPr>
      </p:sp>
      <p:pic>
        <p:nvPicPr>
          <p:cNvPr id="16" name="icono-FaTruck" descr="preencoded.png"/>
          <p:cNvPicPr>
            <a:picLocks noChangeAspect="1"/>
          </p:cNvPicPr>
          <p:nvPr/>
        </p:nvPicPr>
        <p:blipFill>
          <a:blip r:embed="rId5"/>
          <a:stretch>
            <a:fillRect/>
          </a:stretch>
        </p:blipFill>
        <p:spPr>
          <a:xfrm>
            <a:off x="6371539" y="1799539"/>
            <a:ext cx="332842" cy="332842"/>
          </a:xfrm>
          <a:prstGeom prst="rect">
            <a:avLst/>
          </a:prstGeom>
        </p:spPr>
      </p:pic>
      <p:sp>
        <p:nvSpPr>
          <p:cNvPr id="17" name="Text 12"/>
          <p:cNvSpPr txBox="1"/>
          <p:nvPr/>
        </p:nvSpPr>
        <p:spPr>
          <a:xfrm>
            <a:off x="6995160" y="14813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Transporte</a:t>
            </a:r>
            <a:endParaRPr lang="en-US" sz="1400" dirty="0"/>
          </a:p>
        </p:txBody>
      </p:sp>
      <p:sp>
        <p:nvSpPr>
          <p:cNvPr id="18" name="Text 13"/>
          <p:cNvSpPr txBox="1"/>
          <p:nvPr/>
        </p:nvSpPr>
        <p:spPr>
          <a:xfrm>
            <a:off x="6995160" y="2048256"/>
            <a:ext cx="1554480" cy="411480"/>
          </a:xfrm>
          <a:prstGeom prst="rect">
            <a:avLst/>
          </a:prstGeom>
          <a:noFill/>
          <a:ln/>
        </p:spPr>
        <p:txBody>
          <a:bodyPr wrap="square" lIns="0" tIns="0" rIns="0" bIns="0" rtlCol="0" anchor="t"/>
          <a:lstStyle/>
          <a:p>
            <a:pPr marL="0" indent="0">
              <a:buNone/>
            </a:pPr>
            <a:endParaRPr lang="en-US" sz="1100" dirty="0"/>
          </a:p>
        </p:txBody>
      </p:sp>
      <p:sp>
        <p:nvSpPr>
          <p:cNvPr id="19" name="tarjeta-4"/>
          <p:cNvSpPr/>
          <p:nvPr/>
        </p:nvSpPr>
        <p:spPr>
          <a:xfrm>
            <a:off x="457200" y="2743200"/>
            <a:ext cx="2651760" cy="1188720"/>
          </a:xfrm>
          <a:prstGeom prst="roundRect">
            <a:avLst>
              <a:gd name="adj" fmla="val 6154"/>
            </a:avLst>
          </a:prstGeom>
          <a:solidFill>
            <a:schemeClr val="bg2"/>
          </a:solidFill>
          <a:ln w="12700">
            <a:solidFill>
              <a:schemeClr val="bg2"/>
            </a:solidFill>
            <a:prstDash val="solid"/>
          </a:ln>
        </p:spPr>
      </p:sp>
      <p:sp>
        <p:nvSpPr>
          <p:cNvPr id="20" name="circulo-FaWarehouse"/>
          <p:cNvSpPr/>
          <p:nvPr/>
        </p:nvSpPr>
        <p:spPr>
          <a:xfrm>
            <a:off x="640080" y="3017520"/>
            <a:ext cx="640080" cy="640080"/>
          </a:xfrm>
          <a:prstGeom prst="ellipse">
            <a:avLst/>
          </a:prstGeom>
          <a:solidFill>
            <a:schemeClr val="accent2"/>
          </a:solidFill>
          <a:ln w="12700">
            <a:solidFill>
              <a:schemeClr val="accent2"/>
            </a:solidFill>
            <a:prstDash val="solid"/>
          </a:ln>
        </p:spPr>
      </p:sp>
      <p:pic>
        <p:nvPicPr>
          <p:cNvPr id="21" name="icono-FaWarehouse" descr="preencoded.png"/>
          <p:cNvPicPr>
            <a:picLocks noChangeAspect="1"/>
          </p:cNvPicPr>
          <p:nvPr/>
        </p:nvPicPr>
        <p:blipFill>
          <a:blip r:embed="rId6"/>
          <a:stretch>
            <a:fillRect/>
          </a:stretch>
        </p:blipFill>
        <p:spPr>
          <a:xfrm>
            <a:off x="793699" y="3171139"/>
            <a:ext cx="332842" cy="332842"/>
          </a:xfrm>
          <a:prstGeom prst="rect">
            <a:avLst/>
          </a:prstGeom>
        </p:spPr>
      </p:pic>
      <p:sp>
        <p:nvSpPr>
          <p:cNvPr id="22" name="Text 16"/>
          <p:cNvSpPr txBox="1"/>
          <p:nvPr/>
        </p:nvSpPr>
        <p:spPr>
          <a:xfrm>
            <a:off x="1417320" y="28529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Albergue y abastecimiento</a:t>
            </a:r>
            <a:endParaRPr lang="en-US" sz="1400" dirty="0"/>
          </a:p>
        </p:txBody>
      </p:sp>
      <p:sp>
        <p:nvSpPr>
          <p:cNvPr id="24" name="tarjeta-5"/>
          <p:cNvSpPr/>
          <p:nvPr/>
        </p:nvSpPr>
        <p:spPr>
          <a:xfrm>
            <a:off x="3246120" y="2743200"/>
            <a:ext cx="2651760" cy="1188720"/>
          </a:xfrm>
          <a:prstGeom prst="roundRect">
            <a:avLst>
              <a:gd name="adj" fmla="val 6154"/>
            </a:avLst>
          </a:prstGeom>
          <a:solidFill>
            <a:schemeClr val="bg2"/>
          </a:solidFill>
          <a:ln w="12700">
            <a:solidFill>
              <a:schemeClr val="bg2"/>
            </a:solidFill>
            <a:prstDash val="solid"/>
          </a:ln>
        </p:spPr>
      </p:sp>
      <p:sp>
        <p:nvSpPr>
          <p:cNvPr id="25" name="circulo-FaKitMedical"/>
          <p:cNvSpPr/>
          <p:nvPr/>
        </p:nvSpPr>
        <p:spPr>
          <a:xfrm>
            <a:off x="3429000" y="3017520"/>
            <a:ext cx="640080" cy="640080"/>
          </a:xfrm>
          <a:prstGeom prst="ellipse">
            <a:avLst/>
          </a:prstGeom>
          <a:solidFill>
            <a:schemeClr val="accent3"/>
          </a:solidFill>
          <a:ln w="12700">
            <a:solidFill>
              <a:schemeClr val="accent3"/>
            </a:solidFill>
            <a:prstDash val="solid"/>
          </a:ln>
        </p:spPr>
      </p:sp>
      <p:pic>
        <p:nvPicPr>
          <p:cNvPr id="26" name="icono-FaKitMedical" descr="preencoded.png"/>
          <p:cNvPicPr>
            <a:picLocks noChangeAspect="1"/>
          </p:cNvPicPr>
          <p:nvPr/>
        </p:nvPicPr>
        <p:blipFill>
          <a:blip r:embed="rId7"/>
          <a:stretch>
            <a:fillRect/>
          </a:stretch>
        </p:blipFill>
        <p:spPr>
          <a:xfrm>
            <a:off x="3582619" y="3171139"/>
            <a:ext cx="332842" cy="332842"/>
          </a:xfrm>
          <a:prstGeom prst="rect">
            <a:avLst/>
          </a:prstGeom>
        </p:spPr>
      </p:pic>
      <p:sp>
        <p:nvSpPr>
          <p:cNvPr id="27" name="Text 20"/>
          <p:cNvSpPr txBox="1"/>
          <p:nvPr/>
        </p:nvSpPr>
        <p:spPr>
          <a:xfrm>
            <a:off x="4206240" y="28529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Sanitarios y auxiliares</a:t>
            </a:r>
            <a:endParaRPr lang="en-US" sz="1400" dirty="0"/>
          </a:p>
        </p:txBody>
      </p:sp>
      <p:sp>
        <p:nvSpPr>
          <p:cNvPr id="28" name="Text 21"/>
          <p:cNvSpPr txBox="1"/>
          <p:nvPr/>
        </p:nvSpPr>
        <p:spPr>
          <a:xfrm>
            <a:off x="4206240" y="3419856"/>
            <a:ext cx="1554480" cy="411480"/>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cs typeface="Calibri" pitchFamily="34" charset="-120"/>
              </a:rPr>
              <a:t>Cruz </a:t>
            </a:r>
            <a:r>
              <a:rPr lang="en-US" sz="1100" dirty="0" err="1">
                <a:solidFill>
                  <a:schemeClr val="accent5"/>
                </a:solidFill>
                <a:latin typeface="Calibri" pitchFamily="34" charset="0"/>
                <a:cs typeface="Calibri" pitchFamily="34" charset="-120"/>
              </a:rPr>
              <a:t>Roja</a:t>
            </a:r>
            <a:r>
              <a:rPr lang="en-US" sz="1100" dirty="0">
                <a:solidFill>
                  <a:schemeClr val="accent5"/>
                </a:solidFill>
                <a:latin typeface="Calibri" pitchFamily="34" charset="0"/>
                <a:cs typeface="Calibri" pitchFamily="34" charset="-120"/>
              </a:rPr>
              <a:t>, veterinaries y </a:t>
            </a:r>
            <a:r>
              <a:rPr lang="en-US" sz="1100" dirty="0" err="1">
                <a:solidFill>
                  <a:schemeClr val="accent5"/>
                </a:solidFill>
                <a:latin typeface="Calibri" pitchFamily="34" charset="0"/>
                <a:cs typeface="Calibri" pitchFamily="34" charset="-120"/>
              </a:rPr>
              <a:t>protectoras</a:t>
            </a:r>
            <a:r>
              <a:rPr lang="en-US" sz="1100" dirty="0">
                <a:solidFill>
                  <a:schemeClr val="accent5"/>
                </a:solidFill>
                <a:latin typeface="Calibri" pitchFamily="34" charset="0"/>
                <a:cs typeface="Calibri" pitchFamily="34" charset="-120"/>
              </a:rPr>
              <a:t>. </a:t>
            </a:r>
            <a:endParaRPr lang="en-US" sz="1100" dirty="0"/>
          </a:p>
        </p:txBody>
      </p:sp>
      <p:sp>
        <p:nvSpPr>
          <p:cNvPr id="29" name="tarjeta-6"/>
          <p:cNvSpPr/>
          <p:nvPr/>
        </p:nvSpPr>
        <p:spPr>
          <a:xfrm>
            <a:off x="6035040" y="2743200"/>
            <a:ext cx="2651760" cy="1188720"/>
          </a:xfrm>
          <a:prstGeom prst="roundRect">
            <a:avLst>
              <a:gd name="adj" fmla="val 6154"/>
            </a:avLst>
          </a:prstGeom>
          <a:solidFill>
            <a:schemeClr val="bg2"/>
          </a:solidFill>
          <a:ln w="12700">
            <a:solidFill>
              <a:schemeClr val="bg2"/>
            </a:solidFill>
            <a:prstDash val="solid"/>
          </a:ln>
        </p:spPr>
      </p:sp>
      <p:sp>
        <p:nvSpPr>
          <p:cNvPr id="30" name="circulo-FaHouseChimney"/>
          <p:cNvSpPr/>
          <p:nvPr/>
        </p:nvSpPr>
        <p:spPr>
          <a:xfrm>
            <a:off x="6217920" y="3017520"/>
            <a:ext cx="640080" cy="640080"/>
          </a:xfrm>
          <a:prstGeom prst="ellipse">
            <a:avLst/>
          </a:prstGeom>
          <a:solidFill>
            <a:schemeClr val="accent1"/>
          </a:solidFill>
          <a:ln w="12700">
            <a:solidFill>
              <a:schemeClr val="accent1"/>
            </a:solidFill>
            <a:prstDash val="solid"/>
          </a:ln>
        </p:spPr>
      </p:sp>
      <p:pic>
        <p:nvPicPr>
          <p:cNvPr id="31" name="icono-FaHouseChimney" descr="preencoded.png"/>
          <p:cNvPicPr>
            <a:picLocks noChangeAspect="1"/>
          </p:cNvPicPr>
          <p:nvPr/>
        </p:nvPicPr>
        <p:blipFill>
          <a:blip r:embed="rId8"/>
          <a:stretch>
            <a:fillRect/>
          </a:stretch>
        </p:blipFill>
        <p:spPr>
          <a:xfrm>
            <a:off x="6371539" y="3171139"/>
            <a:ext cx="332842" cy="332842"/>
          </a:xfrm>
          <a:prstGeom prst="rect">
            <a:avLst/>
          </a:prstGeom>
        </p:spPr>
      </p:pic>
      <p:sp>
        <p:nvSpPr>
          <p:cNvPr id="32" name="Text 24"/>
          <p:cNvSpPr txBox="1"/>
          <p:nvPr/>
        </p:nvSpPr>
        <p:spPr>
          <a:xfrm>
            <a:off x="6995160" y="2852928"/>
            <a:ext cx="15544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Lugares de albergue</a:t>
            </a:r>
            <a:endParaRPr lang="en-US" sz="1400" dirty="0"/>
          </a:p>
        </p:txBody>
      </p:sp>
      <p:sp>
        <p:nvSpPr>
          <p:cNvPr id="33" name="Text 25"/>
          <p:cNvSpPr txBox="1"/>
          <p:nvPr/>
        </p:nvSpPr>
        <p:spPr>
          <a:xfrm>
            <a:off x="6995160" y="3419856"/>
            <a:ext cx="1554480" cy="411480"/>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ea typeface="Calibri" pitchFamily="34" charset="-122"/>
                <a:cs typeface="Calibri" pitchFamily="34" charset="-120"/>
              </a:rPr>
              <a:t>Centros de protección animal</a:t>
            </a:r>
            <a:endParaRPr lang="en-US" sz="1100" dirty="0"/>
          </a:p>
        </p:txBody>
      </p:sp>
      <p:sp>
        <p:nvSpPr>
          <p:cNvPr id="34" name="mensaje"/>
          <p:cNvSpPr/>
          <p:nvPr/>
        </p:nvSpPr>
        <p:spPr>
          <a:xfrm>
            <a:off x="457200" y="4114800"/>
            <a:ext cx="8229600" cy="502920"/>
          </a:xfrm>
          <a:prstGeom prst="roundRect">
            <a:avLst>
              <a:gd name="adj" fmla="val 14545"/>
            </a:avLst>
          </a:prstGeom>
          <a:solidFill>
            <a:schemeClr val="tx2"/>
          </a:solidFill>
          <a:ln w="12700">
            <a:solidFill>
              <a:schemeClr val="tx2"/>
            </a:solidFill>
            <a:prstDash val="solid"/>
          </a:ln>
        </p:spPr>
      </p:sp>
      <p:sp>
        <p:nvSpPr>
          <p:cNvPr id="35" name="Text 27"/>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En semáforo naranja solo se activa lo que ya está catalogado. Lo que falte, habrá que improvisarlo con la emergencia en marcha.</a:t>
            </a:r>
            <a:endParaRPr lang="en-US" sz="1300" dirty="0"/>
          </a:p>
        </p:txBody>
      </p:sp>
      <p:sp>
        <p:nvSpPr>
          <p:cNvPr id="36"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Antes del naranja: saber qué animales hay y dónde</a:t>
            </a:r>
            <a:endParaRPr lang="en-US" sz="2400" dirty="0"/>
          </a:p>
        </p:txBody>
      </p:sp>
      <p:sp>
        <p:nvSpPr>
          <p:cNvPr id="3" name="columna-1"/>
          <p:cNvSpPr/>
          <p:nvPr/>
        </p:nvSpPr>
        <p:spPr>
          <a:xfrm>
            <a:off x="457200" y="1005840"/>
            <a:ext cx="2788920" cy="3611880"/>
          </a:xfrm>
          <a:prstGeom prst="roundRect">
            <a:avLst>
              <a:gd name="adj" fmla="val 2623"/>
            </a:avLst>
          </a:prstGeom>
          <a:solidFill>
            <a:schemeClr val="bg2"/>
          </a:solidFill>
          <a:ln w="12700">
            <a:solidFill>
              <a:schemeClr val="bg2"/>
            </a:solidFill>
            <a:prstDash val="solid"/>
          </a:ln>
        </p:spPr>
      </p:sp>
      <p:sp>
        <p:nvSpPr>
          <p:cNvPr id="4" name="circulo-FaCow"/>
          <p:cNvSpPr/>
          <p:nvPr/>
        </p:nvSpPr>
        <p:spPr>
          <a:xfrm>
            <a:off x="640080" y="1188720"/>
            <a:ext cx="548640" cy="548640"/>
          </a:xfrm>
          <a:prstGeom prst="ellipse">
            <a:avLst/>
          </a:prstGeom>
          <a:solidFill>
            <a:schemeClr val="accent2"/>
          </a:solidFill>
          <a:ln w="12700">
            <a:solidFill>
              <a:schemeClr val="accent2"/>
            </a:solidFill>
            <a:prstDash val="solid"/>
          </a:ln>
        </p:spPr>
      </p:sp>
      <p:pic>
        <p:nvPicPr>
          <p:cNvPr id="5" name="icono-FaCow" descr="preencoded.png"/>
          <p:cNvPicPr>
            <a:picLocks noChangeAspect="1"/>
          </p:cNvPicPr>
          <p:nvPr/>
        </p:nvPicPr>
        <p:blipFill>
          <a:blip r:embed="rId3"/>
          <a:stretch>
            <a:fillRect/>
          </a:stretch>
        </p:blipFill>
        <p:spPr>
          <a:xfrm>
            <a:off x="771754" y="1320394"/>
            <a:ext cx="285293" cy="285293"/>
          </a:xfrm>
          <a:prstGeom prst="rect">
            <a:avLst/>
          </a:prstGeom>
        </p:spPr>
      </p:pic>
      <p:sp>
        <p:nvSpPr>
          <p:cNvPr id="6" name="Text 3"/>
          <p:cNvSpPr txBox="1"/>
          <p:nvPr/>
        </p:nvSpPr>
        <p:spPr>
          <a:xfrm>
            <a:off x="1325880" y="1188720"/>
            <a:ext cx="1828800" cy="5486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Explotaciones ganaderas</a:t>
            </a:r>
            <a:endParaRPr lang="en-US" sz="1400" dirty="0"/>
          </a:p>
        </p:txBody>
      </p:sp>
      <p:sp>
        <p:nvSpPr>
          <p:cNvPr id="7" name="Text 4"/>
          <p:cNvSpPr txBox="1"/>
          <p:nvPr/>
        </p:nvSpPr>
        <p:spPr>
          <a:xfrm>
            <a:off x="640080" y="1920240"/>
            <a:ext cx="2468880" cy="25603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Censo del Registro de Explotaciones Ganaderas de Canarias</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Plan de evacuación propio de cada explotación</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Inventario que señale las que no pueden evacuar por sus medios</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Animales atados o sueltos en fincas no habitadas</a:t>
            </a:r>
            <a:endParaRPr lang="en-US" sz="1200" dirty="0"/>
          </a:p>
        </p:txBody>
      </p:sp>
      <p:sp>
        <p:nvSpPr>
          <p:cNvPr id="8" name="columna-2"/>
          <p:cNvSpPr/>
          <p:nvPr/>
        </p:nvSpPr>
        <p:spPr>
          <a:xfrm>
            <a:off x="3429000" y="1005840"/>
            <a:ext cx="2788920" cy="3611880"/>
          </a:xfrm>
          <a:prstGeom prst="roundRect">
            <a:avLst>
              <a:gd name="adj" fmla="val 2623"/>
            </a:avLst>
          </a:prstGeom>
          <a:solidFill>
            <a:schemeClr val="bg2"/>
          </a:solidFill>
          <a:ln w="12700">
            <a:solidFill>
              <a:schemeClr val="bg2"/>
            </a:solidFill>
            <a:prstDash val="solid"/>
          </a:ln>
        </p:spPr>
      </p:sp>
      <p:sp>
        <p:nvSpPr>
          <p:cNvPr id="9" name="circulo-FaDog"/>
          <p:cNvSpPr/>
          <p:nvPr/>
        </p:nvSpPr>
        <p:spPr>
          <a:xfrm>
            <a:off x="3611880" y="1188720"/>
            <a:ext cx="548640" cy="548640"/>
          </a:xfrm>
          <a:prstGeom prst="ellipse">
            <a:avLst/>
          </a:prstGeom>
          <a:solidFill>
            <a:schemeClr val="accent1"/>
          </a:solidFill>
          <a:ln w="12700">
            <a:solidFill>
              <a:schemeClr val="accent1"/>
            </a:solidFill>
            <a:prstDash val="solid"/>
          </a:ln>
        </p:spPr>
      </p:sp>
      <p:pic>
        <p:nvPicPr>
          <p:cNvPr id="10" name="icono-FaDog" descr="preencoded.png"/>
          <p:cNvPicPr>
            <a:picLocks noChangeAspect="1"/>
          </p:cNvPicPr>
          <p:nvPr/>
        </p:nvPicPr>
        <p:blipFill>
          <a:blip r:embed="rId4"/>
          <a:stretch>
            <a:fillRect/>
          </a:stretch>
        </p:blipFill>
        <p:spPr>
          <a:xfrm>
            <a:off x="3743554" y="1320394"/>
            <a:ext cx="285293" cy="285293"/>
          </a:xfrm>
          <a:prstGeom prst="rect">
            <a:avLst/>
          </a:prstGeom>
        </p:spPr>
      </p:pic>
      <p:sp>
        <p:nvSpPr>
          <p:cNvPr id="11" name="Text 7"/>
          <p:cNvSpPr txBox="1"/>
          <p:nvPr/>
        </p:nvSpPr>
        <p:spPr>
          <a:xfrm>
            <a:off x="4297680" y="1188720"/>
            <a:ext cx="1828800" cy="5486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Animales de compañía</a:t>
            </a:r>
            <a:endParaRPr lang="en-US" sz="1400" dirty="0"/>
          </a:p>
        </p:txBody>
      </p:sp>
      <p:sp>
        <p:nvSpPr>
          <p:cNvPr id="12" name="Text 8"/>
          <p:cNvSpPr txBox="1"/>
          <p:nvPr/>
        </p:nvSpPr>
        <p:spPr>
          <a:xfrm>
            <a:off x="3611880" y="1920240"/>
            <a:ext cx="2468880" cy="25603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Censo municipal de animales de compañía</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Datos de contacto al día en el Registro Canario de Identificación Animal</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Núcleos zoológicos y centros de recogida, con su plan de autoprotección</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Colonias felinas y protectoras (propuesta municipal)</a:t>
            </a:r>
            <a:endParaRPr lang="en-US" sz="1200" dirty="0"/>
          </a:p>
        </p:txBody>
      </p:sp>
      <p:sp>
        <p:nvSpPr>
          <p:cNvPr id="13" name="dato"/>
          <p:cNvSpPr/>
          <p:nvPr/>
        </p:nvSpPr>
        <p:spPr>
          <a:xfrm>
            <a:off x="6492240" y="1005840"/>
            <a:ext cx="2194560" cy="3611880"/>
          </a:xfrm>
          <a:prstGeom prst="roundRect">
            <a:avLst>
              <a:gd name="adj" fmla="val 3333"/>
            </a:avLst>
          </a:prstGeom>
          <a:solidFill>
            <a:schemeClr val="tx2"/>
          </a:solidFill>
          <a:ln w="12700">
            <a:solidFill>
              <a:schemeClr val="tx2"/>
            </a:solidFill>
            <a:prstDash val="solid"/>
          </a:ln>
        </p:spPr>
      </p:sp>
      <p:sp>
        <p:nvSpPr>
          <p:cNvPr id="14" name="Text 10"/>
          <p:cNvSpPr txBox="1"/>
          <p:nvPr/>
        </p:nvSpPr>
        <p:spPr>
          <a:xfrm>
            <a:off x="6629400" y="1188720"/>
            <a:ext cx="1920240" cy="68580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5.929</a:t>
            </a:r>
            <a:endParaRPr lang="en-US" sz="4000" dirty="0"/>
          </a:p>
        </p:txBody>
      </p:sp>
      <p:sp>
        <p:nvSpPr>
          <p:cNvPr id="15" name="Text 11"/>
          <p:cNvSpPr txBox="1"/>
          <p:nvPr/>
        </p:nvSpPr>
        <p:spPr>
          <a:xfrm>
            <a:off x="6629400" y="1874520"/>
            <a:ext cx="1920240" cy="502920"/>
          </a:xfrm>
          <a:prstGeom prst="rect">
            <a:avLst/>
          </a:prstGeom>
          <a:noFill/>
          <a:ln/>
        </p:spPr>
        <p:txBody>
          <a:bodyPr wrap="square" lIns="0" tIns="0" rIns="0" bIns="0" rtlCol="0" anchor="t"/>
          <a:lstStyle/>
          <a:p>
            <a:pPr marL="0" indent="0">
              <a:buNone/>
            </a:pPr>
            <a:r>
              <a:rPr lang="en-US" sz="1100" dirty="0">
                <a:solidFill>
                  <a:schemeClr val="bg1"/>
                </a:solidFill>
                <a:latin typeface="Calibri" pitchFamily="34" charset="0"/>
                <a:ea typeface="Calibri" pitchFamily="34" charset="-122"/>
                <a:cs typeface="Calibri" pitchFamily="34" charset="-120"/>
              </a:rPr>
              <a:t>cabezas de ganado en el censo de 2009 del PEMU</a:t>
            </a:r>
            <a:endParaRPr lang="en-US" sz="1100" dirty="0"/>
          </a:p>
        </p:txBody>
      </p:sp>
      <p:sp>
        <p:nvSpPr>
          <p:cNvPr id="16" name="Text 12"/>
          <p:cNvSpPr txBox="1"/>
          <p:nvPr/>
        </p:nvSpPr>
        <p:spPr>
          <a:xfrm>
            <a:off x="6629400" y="2468880"/>
            <a:ext cx="1920240" cy="10058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bg1"/>
                </a:solidFill>
                <a:latin typeface="Calibri" pitchFamily="34" charset="0"/>
                <a:ea typeface="Calibri" pitchFamily="34" charset="-122"/>
                <a:cs typeface="Calibri" pitchFamily="34" charset="-120"/>
              </a:rPr>
              <a:t>Caprino: 2.682</a:t>
            </a:r>
            <a:endParaRPr lang="en-US" sz="1100" dirty="0"/>
          </a:p>
          <a:p>
            <a:pPr marL="152400" indent="-152400">
              <a:spcAft>
                <a:spcPts val="400"/>
              </a:spcAft>
              <a:buSzPct val="100000"/>
              <a:buChar char="•"/>
            </a:pPr>
            <a:r>
              <a:rPr lang="en-US" sz="1100" dirty="0">
                <a:solidFill>
                  <a:schemeClr val="bg1"/>
                </a:solidFill>
                <a:latin typeface="Calibri" pitchFamily="34" charset="0"/>
                <a:ea typeface="Calibri" pitchFamily="34" charset="-122"/>
                <a:cs typeface="Calibri" pitchFamily="34" charset="-120"/>
              </a:rPr>
              <a:t>Ovino: 2.637</a:t>
            </a:r>
            <a:endParaRPr lang="en-US" sz="1100" dirty="0"/>
          </a:p>
          <a:p>
            <a:pPr marL="152400" indent="-152400">
              <a:spcAft>
                <a:spcPts val="400"/>
              </a:spcAft>
              <a:buSzPct val="100000"/>
              <a:buChar char="•"/>
            </a:pPr>
            <a:r>
              <a:rPr lang="en-US" sz="1100" dirty="0">
                <a:solidFill>
                  <a:schemeClr val="bg1"/>
                </a:solidFill>
                <a:latin typeface="Calibri" pitchFamily="34" charset="0"/>
                <a:ea typeface="Calibri" pitchFamily="34" charset="-122"/>
                <a:cs typeface="Calibri" pitchFamily="34" charset="-120"/>
              </a:rPr>
              <a:t>Porcino: 535</a:t>
            </a:r>
            <a:endParaRPr lang="en-US" sz="1100" dirty="0"/>
          </a:p>
          <a:p>
            <a:pPr marL="152400" indent="-152400">
              <a:spcAft>
                <a:spcPts val="400"/>
              </a:spcAft>
              <a:buSzPct val="100000"/>
              <a:buChar char="•"/>
            </a:pPr>
            <a:r>
              <a:rPr lang="en-US" sz="1100" dirty="0">
                <a:solidFill>
                  <a:schemeClr val="bg1"/>
                </a:solidFill>
                <a:latin typeface="Calibri" pitchFamily="34" charset="0"/>
                <a:ea typeface="Calibri" pitchFamily="34" charset="-122"/>
                <a:cs typeface="Calibri" pitchFamily="34" charset="-120"/>
              </a:rPr>
              <a:t>Bovino: 77</a:t>
            </a:r>
            <a:endParaRPr lang="en-US" sz="1100" dirty="0"/>
          </a:p>
        </p:txBody>
      </p:sp>
      <p:sp>
        <p:nvSpPr>
          <p:cNvPr id="17" name="Text 13"/>
          <p:cNvSpPr txBox="1"/>
          <p:nvPr/>
        </p:nvSpPr>
        <p:spPr>
          <a:xfrm>
            <a:off x="6629400" y="3566160"/>
            <a:ext cx="1920240" cy="960120"/>
          </a:xfrm>
          <a:prstGeom prst="rect">
            <a:avLst/>
          </a:prstGeom>
          <a:noFill/>
          <a:ln/>
        </p:spPr>
        <p:txBody>
          <a:bodyPr wrap="square" lIns="0" tIns="0" rIns="0" bIns="0" rtlCol="0" anchor="t"/>
          <a:lstStyle/>
          <a:p>
            <a:pPr marL="0" indent="0">
              <a:buNone/>
            </a:pPr>
            <a:r>
              <a:rPr lang="en-US" sz="1000" i="1" dirty="0">
                <a:solidFill>
                  <a:schemeClr val="accent6"/>
                </a:solidFill>
                <a:latin typeface="Calibri" pitchFamily="34" charset="0"/>
                <a:ea typeface="Calibri" pitchFamily="34" charset="-122"/>
                <a:cs typeface="Calibri" pitchFamily="34" charset="-120"/>
              </a:rPr>
              <a:t>El PEMU cita Aripe y Chirche entre los núcleos con ganadería doméstica: puede haber animales sin censar.</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Medios humanos: la Unidad de Evacuación de Animales</a:t>
            </a:r>
            <a:endParaRPr lang="en-US" sz="24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Se constituye dentro del Grupo Logístico. Su coordinador/a lo designa la jefatura de Logística.</a:t>
            </a:r>
            <a:endParaRPr lang="en-US" sz="1300" dirty="0"/>
          </a:p>
        </p:txBody>
      </p:sp>
      <p:sp>
        <p:nvSpPr>
          <p:cNvPr id="4" name="circulo-FaUserDoctor"/>
          <p:cNvSpPr/>
          <p:nvPr/>
        </p:nvSpPr>
        <p:spPr>
          <a:xfrm>
            <a:off x="457200" y="1325880"/>
            <a:ext cx="594360" cy="594360"/>
          </a:xfrm>
          <a:prstGeom prst="ellipse">
            <a:avLst/>
          </a:prstGeom>
          <a:solidFill>
            <a:schemeClr val="accent1"/>
          </a:solidFill>
          <a:ln w="12700">
            <a:solidFill>
              <a:schemeClr val="accent1"/>
            </a:solidFill>
            <a:prstDash val="solid"/>
          </a:ln>
        </p:spPr>
      </p:sp>
      <p:pic>
        <p:nvPicPr>
          <p:cNvPr id="5" name="icono-FaUserDoctor" descr="preencoded.png"/>
          <p:cNvPicPr>
            <a:picLocks noChangeAspect="1"/>
          </p:cNvPicPr>
          <p:nvPr/>
        </p:nvPicPr>
        <p:blipFill>
          <a:blip r:embed="rId3"/>
          <a:stretch>
            <a:fillRect/>
          </a:stretch>
        </p:blipFill>
        <p:spPr>
          <a:xfrm>
            <a:off x="599846" y="1468526"/>
            <a:ext cx="309067" cy="309067"/>
          </a:xfrm>
          <a:prstGeom prst="rect">
            <a:avLst/>
          </a:prstGeom>
        </p:spPr>
      </p:pic>
      <p:sp>
        <p:nvSpPr>
          <p:cNvPr id="6" name="Text 3"/>
          <p:cNvSpPr txBox="1"/>
          <p:nvPr/>
        </p:nvSpPr>
        <p:spPr>
          <a:xfrm>
            <a:off x="1234440" y="1325880"/>
            <a:ext cx="3840480" cy="292608"/>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Personal veterinario de triaje</a:t>
            </a:r>
            <a:endParaRPr lang="en-US" sz="1400" dirty="0"/>
          </a:p>
        </p:txBody>
      </p:sp>
      <p:sp>
        <p:nvSpPr>
          <p:cNvPr id="7" name="Text 4"/>
          <p:cNvSpPr txBox="1"/>
          <p:nvPr/>
        </p:nvSpPr>
        <p:spPr>
          <a:xfrm>
            <a:off x="1234440" y="1627632"/>
            <a:ext cx="3840480" cy="36576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Valora, clasifica y decide forma de evacuación, sedación y centro</a:t>
            </a:r>
            <a:endParaRPr lang="en-US" sz="1200" dirty="0"/>
          </a:p>
        </p:txBody>
      </p:sp>
      <p:sp>
        <p:nvSpPr>
          <p:cNvPr id="8" name="circulo-FaUsers"/>
          <p:cNvSpPr/>
          <p:nvPr/>
        </p:nvSpPr>
        <p:spPr>
          <a:xfrm>
            <a:off x="457200" y="2148840"/>
            <a:ext cx="594360" cy="594360"/>
          </a:xfrm>
          <a:prstGeom prst="ellipse">
            <a:avLst/>
          </a:prstGeom>
          <a:solidFill>
            <a:schemeClr val="accent2"/>
          </a:solidFill>
          <a:ln w="12700">
            <a:solidFill>
              <a:schemeClr val="accent2"/>
            </a:solidFill>
            <a:prstDash val="solid"/>
          </a:ln>
        </p:spPr>
      </p:sp>
      <p:pic>
        <p:nvPicPr>
          <p:cNvPr id="9" name="icono-FaUsers" descr="preencoded.png"/>
          <p:cNvPicPr>
            <a:picLocks noChangeAspect="1"/>
          </p:cNvPicPr>
          <p:nvPr/>
        </p:nvPicPr>
        <p:blipFill>
          <a:blip r:embed="rId4"/>
          <a:stretch>
            <a:fillRect/>
          </a:stretch>
        </p:blipFill>
        <p:spPr>
          <a:xfrm>
            <a:off x="599846" y="2291486"/>
            <a:ext cx="309067" cy="309067"/>
          </a:xfrm>
          <a:prstGeom prst="rect">
            <a:avLst/>
          </a:prstGeom>
        </p:spPr>
      </p:pic>
      <p:sp>
        <p:nvSpPr>
          <p:cNvPr id="10" name="Text 6"/>
          <p:cNvSpPr txBox="1"/>
          <p:nvPr/>
        </p:nvSpPr>
        <p:spPr>
          <a:xfrm>
            <a:off x="1234440" y="2148840"/>
            <a:ext cx="3840480" cy="292608"/>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Jefatura de cuadrilla o agrupación</a:t>
            </a:r>
            <a:endParaRPr lang="en-US" sz="1400" dirty="0"/>
          </a:p>
        </p:txBody>
      </p:sp>
      <p:sp>
        <p:nvSpPr>
          <p:cNvPr id="11" name="Text 7"/>
          <p:cNvSpPr txBox="1"/>
          <p:nvPr/>
        </p:nvSpPr>
        <p:spPr>
          <a:xfrm>
            <a:off x="1234440" y="2450592"/>
            <a:ext cx="3840480" cy="36576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Dirige a cada equipo sobre el terreno</a:t>
            </a:r>
            <a:endParaRPr lang="en-US" sz="1200" dirty="0"/>
          </a:p>
        </p:txBody>
      </p:sp>
      <p:sp>
        <p:nvSpPr>
          <p:cNvPr id="12" name="circulo-FaShieldHalved"/>
          <p:cNvSpPr/>
          <p:nvPr/>
        </p:nvSpPr>
        <p:spPr>
          <a:xfrm>
            <a:off x="457200" y="2971800"/>
            <a:ext cx="594360" cy="594360"/>
          </a:xfrm>
          <a:prstGeom prst="ellipse">
            <a:avLst/>
          </a:prstGeom>
          <a:solidFill>
            <a:schemeClr val="accent1"/>
          </a:solidFill>
          <a:ln w="12700">
            <a:solidFill>
              <a:schemeClr val="accent1"/>
            </a:solidFill>
            <a:prstDash val="solid"/>
          </a:ln>
        </p:spPr>
      </p:sp>
      <p:pic>
        <p:nvPicPr>
          <p:cNvPr id="13" name="icono-FaShieldHalved" descr="preencoded.png"/>
          <p:cNvPicPr>
            <a:picLocks noChangeAspect="1"/>
          </p:cNvPicPr>
          <p:nvPr/>
        </p:nvPicPr>
        <p:blipFill>
          <a:blip r:embed="rId5"/>
          <a:stretch>
            <a:fillRect/>
          </a:stretch>
        </p:blipFill>
        <p:spPr>
          <a:xfrm>
            <a:off x="599846" y="3114446"/>
            <a:ext cx="309067" cy="309067"/>
          </a:xfrm>
          <a:prstGeom prst="rect">
            <a:avLst/>
          </a:prstGeom>
        </p:spPr>
      </p:pic>
      <p:sp>
        <p:nvSpPr>
          <p:cNvPr id="14" name="Text 9"/>
          <p:cNvSpPr txBox="1"/>
          <p:nvPr/>
        </p:nvSpPr>
        <p:spPr>
          <a:xfrm>
            <a:off x="1234440" y="2971800"/>
            <a:ext cx="3840480" cy="292608"/>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Operarios de Protección Civil</a:t>
            </a:r>
            <a:endParaRPr lang="en-US" sz="1400" dirty="0"/>
          </a:p>
        </p:txBody>
      </p:sp>
      <p:sp>
        <p:nvSpPr>
          <p:cNvPr id="15" name="Text 10"/>
          <p:cNvSpPr txBox="1"/>
          <p:nvPr/>
        </p:nvSpPr>
        <p:spPr>
          <a:xfrm>
            <a:off x="1234440" y="3273552"/>
            <a:ext cx="3840480" cy="36576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Captura, carga y traslado</a:t>
            </a:r>
            <a:endParaRPr lang="en-US" sz="1200" dirty="0"/>
          </a:p>
        </p:txBody>
      </p:sp>
      <p:sp>
        <p:nvSpPr>
          <p:cNvPr id="16" name="circulo-FaPaw"/>
          <p:cNvSpPr/>
          <p:nvPr/>
        </p:nvSpPr>
        <p:spPr>
          <a:xfrm>
            <a:off x="457200" y="3794760"/>
            <a:ext cx="594360" cy="594360"/>
          </a:xfrm>
          <a:prstGeom prst="ellipse">
            <a:avLst/>
          </a:prstGeom>
          <a:solidFill>
            <a:schemeClr val="accent2"/>
          </a:solidFill>
          <a:ln w="12700">
            <a:solidFill>
              <a:schemeClr val="accent2"/>
            </a:solidFill>
            <a:prstDash val="solid"/>
          </a:ln>
        </p:spPr>
      </p:sp>
      <p:pic>
        <p:nvPicPr>
          <p:cNvPr id="17" name="icono-FaPaw" descr="preencoded.png"/>
          <p:cNvPicPr>
            <a:picLocks noChangeAspect="1"/>
          </p:cNvPicPr>
          <p:nvPr/>
        </p:nvPicPr>
        <p:blipFill>
          <a:blip r:embed="rId6"/>
          <a:stretch>
            <a:fillRect/>
          </a:stretch>
        </p:blipFill>
        <p:spPr>
          <a:xfrm>
            <a:off x="599846" y="3937406"/>
            <a:ext cx="309067" cy="309067"/>
          </a:xfrm>
          <a:prstGeom prst="rect">
            <a:avLst/>
          </a:prstGeom>
        </p:spPr>
      </p:pic>
      <p:sp>
        <p:nvSpPr>
          <p:cNvPr id="18" name="Text 12"/>
          <p:cNvSpPr txBox="1"/>
          <p:nvPr/>
        </p:nvSpPr>
        <p:spPr>
          <a:xfrm>
            <a:off x="1234440" y="3794760"/>
            <a:ext cx="3840480" cy="292608"/>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Auxiliares de protección animal</a:t>
            </a:r>
            <a:endParaRPr lang="en-US" sz="1400" dirty="0"/>
          </a:p>
        </p:txBody>
      </p:sp>
      <p:sp>
        <p:nvSpPr>
          <p:cNvPr id="19" name="Text 13"/>
          <p:cNvSpPr txBox="1"/>
          <p:nvPr/>
        </p:nvSpPr>
        <p:spPr>
          <a:xfrm>
            <a:off x="1234440" y="4096512"/>
            <a:ext cx="3840480" cy="36576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Manejo y cuidado de los animales</a:t>
            </a:r>
            <a:endParaRPr lang="en-US" sz="1200" dirty="0"/>
          </a:p>
        </p:txBody>
      </p:sp>
      <p:sp>
        <p:nvSpPr>
          <p:cNvPr id="20" name="refuerzos"/>
          <p:cNvSpPr/>
          <p:nvPr/>
        </p:nvSpPr>
        <p:spPr>
          <a:xfrm>
            <a:off x="5303520" y="1325880"/>
            <a:ext cx="3383280" cy="1600200"/>
          </a:xfrm>
          <a:prstGeom prst="roundRect">
            <a:avLst>
              <a:gd name="adj" fmla="val 4571"/>
            </a:avLst>
          </a:prstGeom>
          <a:solidFill>
            <a:schemeClr val="bg2"/>
          </a:solidFill>
          <a:ln w="12700">
            <a:solidFill>
              <a:schemeClr val="bg2"/>
            </a:solidFill>
            <a:prstDash val="solid"/>
          </a:ln>
        </p:spPr>
      </p:sp>
      <p:sp>
        <p:nvSpPr>
          <p:cNvPr id="21" name="Text 15"/>
          <p:cNvSpPr txBox="1"/>
          <p:nvPr/>
        </p:nvSpPr>
        <p:spPr>
          <a:xfrm>
            <a:off x="5486400" y="1444752"/>
            <a:ext cx="301752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Pueden incorporarse</a:t>
            </a:r>
            <a:endParaRPr lang="en-US" sz="1300" dirty="0"/>
          </a:p>
        </p:txBody>
      </p:sp>
      <p:sp>
        <p:nvSpPr>
          <p:cNvPr id="22" name="Text 16"/>
          <p:cNvSpPr txBox="1"/>
          <p:nvPr/>
        </p:nvSpPr>
        <p:spPr>
          <a:xfrm>
            <a:off x="5486400" y="1783080"/>
            <a:ext cx="3063240" cy="10972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Personal técnico agrícola</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Personal de agricultura: alimentación y ordeño</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Biología o ciencias del mar</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Voluntariado con prenda identificativa (Ley 4/1998)</a:t>
            </a:r>
            <a:endParaRPr lang="en-US" sz="1150" dirty="0"/>
          </a:p>
        </p:txBody>
      </p:sp>
      <p:sp>
        <p:nvSpPr>
          <p:cNvPr id="23" name="apoyos"/>
          <p:cNvSpPr/>
          <p:nvPr/>
        </p:nvSpPr>
        <p:spPr>
          <a:xfrm>
            <a:off x="5303520" y="3063240"/>
            <a:ext cx="3383280" cy="1554480"/>
          </a:xfrm>
          <a:prstGeom prst="roundRect">
            <a:avLst>
              <a:gd name="adj" fmla="val 4706"/>
            </a:avLst>
          </a:prstGeom>
          <a:solidFill>
            <a:schemeClr val="tx2"/>
          </a:solidFill>
          <a:ln w="12700">
            <a:solidFill>
              <a:schemeClr val="tx2"/>
            </a:solidFill>
            <a:prstDash val="solid"/>
          </a:ln>
        </p:spPr>
      </p:sp>
      <p:sp>
        <p:nvSpPr>
          <p:cNvPr id="24" name="Text 18"/>
          <p:cNvSpPr txBox="1"/>
          <p:nvPr/>
        </p:nvSpPr>
        <p:spPr>
          <a:xfrm>
            <a:off x="5486400" y="3182112"/>
            <a:ext cx="3017520" cy="274320"/>
          </a:xfrm>
          <a:prstGeom prst="rect">
            <a:avLst/>
          </a:prstGeom>
          <a:noFill/>
          <a:ln/>
        </p:spPr>
        <p:txBody>
          <a:bodyPr wrap="square" lIns="0" tIns="0" rIns="0" bIns="0" rtlCol="0" anchor="t"/>
          <a:lstStyle/>
          <a:p>
            <a:pPr marL="0" indent="0">
              <a:buNone/>
            </a:pPr>
            <a:r>
              <a:rPr lang="en-US" sz="1300" b="1" dirty="0">
                <a:solidFill>
                  <a:schemeClr val="accent1"/>
                </a:solidFill>
                <a:latin typeface="Calibri" pitchFamily="34" charset="0"/>
                <a:ea typeface="Calibri" pitchFamily="34" charset="-122"/>
                <a:cs typeface="Calibri" pitchFamily="34" charset="-120"/>
              </a:rPr>
              <a:t>Apoyos de otros grupos</a:t>
            </a:r>
            <a:endParaRPr lang="en-US" sz="1300" dirty="0"/>
          </a:p>
        </p:txBody>
      </p:sp>
      <p:sp>
        <p:nvSpPr>
          <p:cNvPr id="25" name="Text 19"/>
          <p:cNvSpPr txBox="1"/>
          <p:nvPr/>
        </p:nvSpPr>
        <p:spPr>
          <a:xfrm>
            <a:off x="5486400" y="3520440"/>
            <a:ext cx="3063240" cy="10515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bg1"/>
                </a:solidFill>
                <a:latin typeface="Calibri" pitchFamily="34" charset="0"/>
                <a:ea typeface="Calibri" pitchFamily="34" charset="-122"/>
                <a:cs typeface="Calibri" pitchFamily="34" charset="-120"/>
              </a:rPr>
              <a:t>Seguridad: control de accesos y custodia de los centros (</a:t>
            </a:r>
            <a:r>
              <a:rPr lang="en-US" sz="1150" dirty="0" err="1">
                <a:solidFill>
                  <a:schemeClr val="bg1"/>
                </a:solidFill>
                <a:latin typeface="Calibri" pitchFamily="34" charset="0"/>
                <a:ea typeface="Calibri" pitchFamily="34" charset="-122"/>
                <a:cs typeface="Calibri" pitchFamily="34" charset="-120"/>
              </a:rPr>
              <a:t>Agentes</a:t>
            </a:r>
            <a:r>
              <a:rPr lang="en-US" sz="1150" dirty="0">
                <a:solidFill>
                  <a:schemeClr val="bg1"/>
                </a:solidFill>
                <a:latin typeface="Calibri" pitchFamily="34" charset="0"/>
                <a:ea typeface="Calibri" pitchFamily="34" charset="-122"/>
                <a:cs typeface="Calibri" pitchFamily="34" charset="-120"/>
              </a:rPr>
              <a:t> de la </a:t>
            </a:r>
            <a:r>
              <a:rPr lang="en-US" sz="1150" dirty="0" err="1">
                <a:solidFill>
                  <a:schemeClr val="bg1"/>
                </a:solidFill>
                <a:latin typeface="Calibri" pitchFamily="34" charset="0"/>
                <a:ea typeface="Calibri" pitchFamily="34" charset="-122"/>
                <a:cs typeface="Calibri" pitchFamily="34" charset="-120"/>
              </a:rPr>
              <a:t>Autoridad</a:t>
            </a:r>
            <a:r>
              <a:rPr lang="en-US" sz="1150" dirty="0">
                <a:solidFill>
                  <a:schemeClr val="bg1"/>
                </a:solidFill>
                <a:latin typeface="Calibri" pitchFamily="34" charset="0"/>
                <a:ea typeface="Calibri" pitchFamily="34" charset="-122"/>
                <a:cs typeface="Calibri" pitchFamily="34" charset="-120"/>
              </a:rPr>
              <a:t>)</a:t>
            </a:r>
            <a:endParaRPr lang="en-US" sz="1150" dirty="0"/>
          </a:p>
          <a:p>
            <a:pPr marL="152400" indent="-152400">
              <a:spcAft>
                <a:spcPts val="400"/>
              </a:spcAft>
              <a:buSzPct val="100000"/>
              <a:buChar char="•"/>
            </a:pPr>
            <a:r>
              <a:rPr lang="en-US" sz="1150" dirty="0">
                <a:solidFill>
                  <a:schemeClr val="bg1"/>
                </a:solidFill>
                <a:latin typeface="Calibri" pitchFamily="34" charset="0"/>
                <a:ea typeface="Calibri" pitchFamily="34" charset="-122"/>
                <a:cs typeface="Calibri" pitchFamily="34" charset="-120"/>
              </a:rPr>
              <a:t>Intervención: viabilidad de la evacuación en tiempo real</a:t>
            </a:r>
            <a:endParaRPr lang="en-US" sz="1150" dirty="0"/>
          </a:p>
        </p:txBody>
      </p:sp>
      <p:sp>
        <p:nvSpPr>
          <p:cNvPr id="26"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Medios de transporte: quién mueve a cada animal</a:t>
            </a:r>
            <a:endParaRPr lang="en-US" sz="2400" dirty="0"/>
          </a:p>
        </p:txBody>
      </p:sp>
      <p:sp>
        <p:nvSpPr>
          <p:cNvPr id="3" name="columna-1"/>
          <p:cNvSpPr/>
          <p:nvPr/>
        </p:nvSpPr>
        <p:spPr>
          <a:xfrm>
            <a:off x="457200" y="1005840"/>
            <a:ext cx="2468880" cy="3611880"/>
          </a:xfrm>
          <a:prstGeom prst="roundRect">
            <a:avLst>
              <a:gd name="adj" fmla="val 2963"/>
            </a:avLst>
          </a:prstGeom>
          <a:solidFill>
            <a:schemeClr val="bg2"/>
          </a:solidFill>
          <a:ln w="12700">
            <a:solidFill>
              <a:schemeClr val="bg2"/>
            </a:solidFill>
            <a:prstDash val="solid"/>
          </a:ln>
        </p:spPr>
      </p:sp>
      <p:sp>
        <p:nvSpPr>
          <p:cNvPr id="4" name="circulo-FaCow"/>
          <p:cNvSpPr/>
          <p:nvPr/>
        </p:nvSpPr>
        <p:spPr>
          <a:xfrm>
            <a:off x="640080" y="1188720"/>
            <a:ext cx="548640" cy="548640"/>
          </a:xfrm>
          <a:prstGeom prst="ellipse">
            <a:avLst/>
          </a:prstGeom>
          <a:solidFill>
            <a:schemeClr val="accent2"/>
          </a:solidFill>
          <a:ln w="12700">
            <a:solidFill>
              <a:schemeClr val="accent2"/>
            </a:solidFill>
            <a:prstDash val="solid"/>
          </a:ln>
        </p:spPr>
      </p:sp>
      <p:pic>
        <p:nvPicPr>
          <p:cNvPr id="5" name="icono-FaCow" descr="preencoded.png"/>
          <p:cNvPicPr>
            <a:picLocks noChangeAspect="1"/>
          </p:cNvPicPr>
          <p:nvPr/>
        </p:nvPicPr>
        <p:blipFill>
          <a:blip r:embed="rId3"/>
          <a:stretch>
            <a:fillRect/>
          </a:stretch>
        </p:blipFill>
        <p:spPr>
          <a:xfrm>
            <a:off x="771754" y="1320394"/>
            <a:ext cx="285293" cy="285293"/>
          </a:xfrm>
          <a:prstGeom prst="rect">
            <a:avLst/>
          </a:prstGeom>
        </p:spPr>
      </p:pic>
      <p:sp>
        <p:nvSpPr>
          <p:cNvPr id="6" name="Text 3"/>
          <p:cNvSpPr txBox="1"/>
          <p:nvPr/>
        </p:nvSpPr>
        <p:spPr>
          <a:xfrm>
            <a:off x="1325880" y="1188720"/>
            <a:ext cx="1463040" cy="5486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Ganado</a:t>
            </a:r>
            <a:endParaRPr lang="en-US" sz="1400" dirty="0"/>
          </a:p>
        </p:txBody>
      </p:sp>
      <p:sp>
        <p:nvSpPr>
          <p:cNvPr id="7" name="Text 4"/>
          <p:cNvSpPr txBox="1"/>
          <p:nvPr/>
        </p:nvSpPr>
        <p:spPr>
          <a:xfrm>
            <a:off x="640080" y="1920240"/>
            <a:ext cx="2148840" cy="25603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Vehículos de recogida de animales o preparados para ello</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Listado de contactos y medios de transporte (Anexo 2)</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Medios propios de los ganaderos</a:t>
            </a:r>
            <a:endParaRPr lang="en-US" sz="1200" dirty="0"/>
          </a:p>
        </p:txBody>
      </p:sp>
      <p:sp>
        <p:nvSpPr>
          <p:cNvPr id="8" name="columna-2"/>
          <p:cNvSpPr/>
          <p:nvPr/>
        </p:nvSpPr>
        <p:spPr>
          <a:xfrm>
            <a:off x="3063240" y="1005840"/>
            <a:ext cx="2468880" cy="3611880"/>
          </a:xfrm>
          <a:prstGeom prst="roundRect">
            <a:avLst>
              <a:gd name="adj" fmla="val 2963"/>
            </a:avLst>
          </a:prstGeom>
          <a:solidFill>
            <a:schemeClr val="bg2"/>
          </a:solidFill>
          <a:ln w="12700">
            <a:solidFill>
              <a:schemeClr val="bg2"/>
            </a:solidFill>
            <a:prstDash val="solid"/>
          </a:ln>
        </p:spPr>
      </p:sp>
      <p:sp>
        <p:nvSpPr>
          <p:cNvPr id="9" name="circulo-FaDog"/>
          <p:cNvSpPr/>
          <p:nvPr/>
        </p:nvSpPr>
        <p:spPr>
          <a:xfrm>
            <a:off x="3246120" y="1188720"/>
            <a:ext cx="548640" cy="548640"/>
          </a:xfrm>
          <a:prstGeom prst="ellipse">
            <a:avLst/>
          </a:prstGeom>
          <a:solidFill>
            <a:schemeClr val="accent1"/>
          </a:solidFill>
          <a:ln w="12700">
            <a:solidFill>
              <a:schemeClr val="accent1"/>
            </a:solidFill>
            <a:prstDash val="solid"/>
          </a:ln>
        </p:spPr>
      </p:sp>
      <p:pic>
        <p:nvPicPr>
          <p:cNvPr id="10" name="icono-FaDog" descr="preencoded.png"/>
          <p:cNvPicPr>
            <a:picLocks noChangeAspect="1"/>
          </p:cNvPicPr>
          <p:nvPr/>
        </p:nvPicPr>
        <p:blipFill>
          <a:blip r:embed="rId4"/>
          <a:stretch>
            <a:fillRect/>
          </a:stretch>
        </p:blipFill>
        <p:spPr>
          <a:xfrm>
            <a:off x="3377794" y="1320394"/>
            <a:ext cx="285293" cy="285293"/>
          </a:xfrm>
          <a:prstGeom prst="rect">
            <a:avLst/>
          </a:prstGeom>
        </p:spPr>
      </p:pic>
      <p:sp>
        <p:nvSpPr>
          <p:cNvPr id="11" name="Text 7"/>
          <p:cNvSpPr txBox="1"/>
          <p:nvPr/>
        </p:nvSpPr>
        <p:spPr>
          <a:xfrm>
            <a:off x="3931920" y="1188720"/>
            <a:ext cx="1463040" cy="5486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Animales de compañía</a:t>
            </a:r>
            <a:endParaRPr lang="en-US" sz="1400" dirty="0"/>
          </a:p>
        </p:txBody>
      </p:sp>
      <p:sp>
        <p:nvSpPr>
          <p:cNvPr id="12" name="Text 8"/>
          <p:cNvSpPr txBox="1"/>
          <p:nvPr/>
        </p:nvSpPr>
        <p:spPr>
          <a:xfrm>
            <a:off x="3246120" y="1920240"/>
            <a:ext cx="2148840" cy="25603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Preferentemente con sus propietarios, en su vehículo</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Transportines plegables o jaulas desmontables</a:t>
            </a:r>
            <a:endParaRPr lang="en-US" sz="1200" dirty="0"/>
          </a:p>
          <a:p>
            <a:pPr marL="152400" indent="-1524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Vehículos de Protección Civil o de entidades con convenio</a:t>
            </a:r>
            <a:endParaRPr lang="en-US" sz="1200" dirty="0"/>
          </a:p>
        </p:txBody>
      </p:sp>
      <p:sp>
        <p:nvSpPr>
          <p:cNvPr id="13" name="Text 9"/>
          <p:cNvSpPr txBox="1"/>
          <p:nvPr/>
        </p:nvSpPr>
        <p:spPr>
          <a:xfrm>
            <a:off x="5760720" y="1005840"/>
            <a:ext cx="2926080" cy="32004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Ficha de cada vehículo</a:t>
            </a:r>
            <a:endParaRPr lang="en-US" sz="1300" dirty="0"/>
          </a:p>
        </p:txBody>
      </p:sp>
      <p:graphicFrame>
        <p:nvGraphicFramePr>
          <p:cNvPr id="14" name="tabla-ficha"/>
          <p:cNvGraphicFramePr>
            <a:graphicFrameLocks noGrp="1"/>
          </p:cNvGraphicFramePr>
          <p:nvPr>
            <p:extLst>
              <p:ext uri="{D42A27DB-BD31-4B8C-83A1-F6EECF244321}">
                <p14:modId xmlns:p14="http://schemas.microsoft.com/office/powerpoint/2010/main" val="1579011935"/>
              </p:ext>
            </p:extLst>
          </p:nvPr>
        </p:nvGraphicFramePr>
        <p:xfrm>
          <a:off x="5760720" y="1371600"/>
          <a:ext cx="2926080" cy="2743200"/>
        </p:xfrm>
        <a:graphic>
          <a:graphicData uri="http://schemas.openxmlformats.org/drawingml/2006/table">
            <a:tbl>
              <a:tblPr/>
              <a:tblGrid>
                <a:gridCol w="14173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457200">
                <a:tc>
                  <a:txBody>
                    <a:bodyPr/>
                    <a:lstStyle/>
                    <a:p>
                      <a:pPr marL="0" indent="0">
                        <a:buNone/>
                      </a:pPr>
                      <a:r>
                        <a:rPr lang="en-US" sz="1050" b="1" dirty="0">
                          <a:solidFill>
                            <a:schemeClr val="bg1"/>
                          </a:solidFill>
                          <a:latin typeface="Calibri" pitchFamily="34" charset="0"/>
                          <a:ea typeface="Calibri" pitchFamily="34" charset="-122"/>
                          <a:cs typeface="Calibri" pitchFamily="34" charset="-120"/>
                        </a:rPr>
                        <a:t>Campo</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tc>
                  <a:txBody>
                    <a:bodyPr/>
                    <a:lstStyle/>
                    <a:p>
                      <a:pPr marL="0" indent="0">
                        <a:buNone/>
                      </a:pPr>
                      <a:r>
                        <a:rPr lang="en-US" sz="1050" b="1" dirty="0">
                          <a:solidFill>
                            <a:schemeClr val="bg1"/>
                          </a:solidFill>
                          <a:latin typeface="Calibri" pitchFamily="34" charset="0"/>
                          <a:ea typeface="Calibri" pitchFamily="34" charset="-122"/>
                          <a:cs typeface="Calibri" pitchFamily="34" charset="-120"/>
                        </a:rPr>
                        <a:t>Ejemplo</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Titular y contacto 24 h</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Transportista o ganadero</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Tipo de vehículo</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Camión de ganado, furgoneta</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Capacidad</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Cabezas o transportines</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Tiempo de llegada</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Minutos hasta Chirche o Aripe</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Forma de movilización</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Propio, contrato o convenio</a:t>
                      </a:r>
                      <a:endParaRPr lang="en-US" sz="105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Lugares de albergue: los centros de protección animal</a:t>
            </a:r>
            <a:endParaRPr lang="en-US" sz="2400" dirty="0"/>
          </a:p>
        </p:txBody>
      </p:sp>
      <p:sp>
        <p:nvSpPr>
          <p:cNvPr id="3" name="Text 1"/>
          <p:cNvSpPr txBox="1"/>
          <p:nvPr/>
        </p:nvSpPr>
        <p:spPr>
          <a:xfrm>
            <a:off x="457200" y="914400"/>
            <a:ext cx="4206240" cy="32004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Orden de preferencia (Anexo 3 del Protocolo)</a:t>
            </a:r>
            <a:endParaRPr lang="en-US" sz="1300" dirty="0"/>
          </a:p>
        </p:txBody>
      </p:sp>
      <p:sp>
        <p:nvSpPr>
          <p:cNvPr id="4" name="paso-1"/>
          <p:cNvSpPr/>
          <p:nvPr/>
        </p:nvSpPr>
        <p:spPr>
          <a:xfrm>
            <a:off x="457200" y="1325880"/>
            <a:ext cx="4206240" cy="868680"/>
          </a:xfrm>
          <a:prstGeom prst="roundRect">
            <a:avLst>
              <a:gd name="adj" fmla="val 8421"/>
            </a:avLst>
          </a:prstGeom>
          <a:solidFill>
            <a:schemeClr val="bg2"/>
          </a:solidFill>
          <a:ln w="12700">
            <a:solidFill>
              <a:schemeClr val="bg2"/>
            </a:solidFill>
            <a:prstDash val="solid"/>
          </a:ln>
        </p:spPr>
      </p:sp>
      <p:sp>
        <p:nvSpPr>
          <p:cNvPr id="5" name="numero-1"/>
          <p:cNvSpPr/>
          <p:nvPr/>
        </p:nvSpPr>
        <p:spPr>
          <a:xfrm>
            <a:off x="621792" y="1508760"/>
            <a:ext cx="502920" cy="502920"/>
          </a:xfrm>
          <a:prstGeom prst="ellipse">
            <a:avLst/>
          </a:prstGeom>
          <a:solidFill>
            <a:schemeClr val="accent2"/>
          </a:solidFill>
          <a:ln w="12700">
            <a:solidFill>
              <a:schemeClr val="accent2"/>
            </a:solidFill>
            <a:prstDash val="solid"/>
          </a:ln>
        </p:spPr>
      </p:sp>
      <p:sp>
        <p:nvSpPr>
          <p:cNvPr id="6" name="Text 4"/>
          <p:cNvSpPr txBox="1"/>
          <p:nvPr/>
        </p:nvSpPr>
        <p:spPr>
          <a:xfrm>
            <a:off x="621792" y="15087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80160" y="1417320"/>
            <a:ext cx="3246120" cy="685800"/>
          </a:xfrm>
          <a:prstGeom prst="rect">
            <a:avLst/>
          </a:prstGeom>
          <a:noFill/>
          <a:ln/>
        </p:spPr>
        <p:txBody>
          <a:bodyPr wrap="square" lIns="0" tIns="0" rIns="0" bIns="0" rtlCol="0" anchor="ctr"/>
          <a:lstStyle/>
          <a:p>
            <a:pPr marL="0" indent="0">
              <a:buNone/>
            </a:pPr>
            <a:r>
              <a:rPr lang="en-US" sz="1250" dirty="0">
                <a:solidFill>
                  <a:schemeClr val="tx1"/>
                </a:solidFill>
                <a:latin typeface="Calibri" pitchFamily="34" charset="0"/>
                <a:ea typeface="Calibri" pitchFamily="34" charset="-122"/>
                <a:cs typeface="Calibri" pitchFamily="34" charset="-120"/>
              </a:rPr>
              <a:t>Centros previstos en los planes insular y municipal</a:t>
            </a:r>
            <a:endParaRPr lang="en-US" sz="1250" dirty="0"/>
          </a:p>
        </p:txBody>
      </p:sp>
      <p:sp>
        <p:nvSpPr>
          <p:cNvPr id="8" name="paso-2"/>
          <p:cNvSpPr/>
          <p:nvPr/>
        </p:nvSpPr>
        <p:spPr>
          <a:xfrm>
            <a:off x="457200" y="2350008"/>
            <a:ext cx="4206240" cy="868680"/>
          </a:xfrm>
          <a:prstGeom prst="roundRect">
            <a:avLst>
              <a:gd name="adj" fmla="val 8421"/>
            </a:avLst>
          </a:prstGeom>
          <a:solidFill>
            <a:schemeClr val="bg2"/>
          </a:solidFill>
          <a:ln w="12700">
            <a:solidFill>
              <a:schemeClr val="bg2"/>
            </a:solidFill>
            <a:prstDash val="solid"/>
          </a:ln>
        </p:spPr>
      </p:sp>
      <p:sp>
        <p:nvSpPr>
          <p:cNvPr id="9" name="numero-2"/>
          <p:cNvSpPr/>
          <p:nvPr/>
        </p:nvSpPr>
        <p:spPr>
          <a:xfrm>
            <a:off x="621792" y="2532888"/>
            <a:ext cx="502920" cy="502920"/>
          </a:xfrm>
          <a:prstGeom prst="ellipse">
            <a:avLst/>
          </a:prstGeom>
          <a:solidFill>
            <a:schemeClr val="accent5"/>
          </a:solidFill>
          <a:ln w="12700">
            <a:solidFill>
              <a:schemeClr val="accent5"/>
            </a:solidFill>
            <a:prstDash val="solid"/>
          </a:ln>
        </p:spPr>
      </p:sp>
      <p:sp>
        <p:nvSpPr>
          <p:cNvPr id="10" name="Text 8"/>
          <p:cNvSpPr txBox="1"/>
          <p:nvPr/>
        </p:nvSpPr>
        <p:spPr>
          <a:xfrm>
            <a:off x="621792" y="25328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280160" y="2441448"/>
            <a:ext cx="3246120" cy="685800"/>
          </a:xfrm>
          <a:prstGeom prst="rect">
            <a:avLst/>
          </a:prstGeom>
          <a:noFill/>
          <a:ln/>
        </p:spPr>
        <p:txBody>
          <a:bodyPr wrap="square" lIns="0" tIns="0" rIns="0" bIns="0" rtlCol="0" anchor="ctr"/>
          <a:lstStyle/>
          <a:p>
            <a:pPr marL="0" indent="0">
              <a:buNone/>
            </a:pPr>
            <a:r>
              <a:rPr lang="en-US" sz="1250" dirty="0">
                <a:solidFill>
                  <a:schemeClr val="tx1"/>
                </a:solidFill>
                <a:latin typeface="Calibri" pitchFamily="34" charset="0"/>
                <a:ea typeface="Calibri" pitchFamily="34" charset="-122"/>
                <a:cs typeface="Calibri" pitchFamily="34" charset="-120"/>
              </a:rPr>
              <a:t>Centros para ganado propuestos por el Área de Ganadería del Cabildo</a:t>
            </a:r>
            <a:endParaRPr lang="en-US" sz="1250" dirty="0"/>
          </a:p>
        </p:txBody>
      </p:sp>
      <p:sp>
        <p:nvSpPr>
          <p:cNvPr id="12" name="paso-3"/>
          <p:cNvSpPr/>
          <p:nvPr/>
        </p:nvSpPr>
        <p:spPr>
          <a:xfrm>
            <a:off x="457200" y="3374136"/>
            <a:ext cx="4206240" cy="868680"/>
          </a:xfrm>
          <a:prstGeom prst="roundRect">
            <a:avLst>
              <a:gd name="adj" fmla="val 8421"/>
            </a:avLst>
          </a:prstGeom>
          <a:solidFill>
            <a:schemeClr val="bg2"/>
          </a:solidFill>
          <a:ln w="12700">
            <a:solidFill>
              <a:schemeClr val="bg2"/>
            </a:solidFill>
            <a:prstDash val="solid"/>
          </a:ln>
        </p:spPr>
      </p:sp>
      <p:sp>
        <p:nvSpPr>
          <p:cNvPr id="13" name="numero-3"/>
          <p:cNvSpPr/>
          <p:nvPr/>
        </p:nvSpPr>
        <p:spPr>
          <a:xfrm>
            <a:off x="621792" y="3557016"/>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621792" y="3557016"/>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80160" y="3465576"/>
            <a:ext cx="3246120" cy="685800"/>
          </a:xfrm>
          <a:prstGeom prst="rect">
            <a:avLst/>
          </a:prstGeom>
          <a:noFill/>
          <a:ln/>
        </p:spPr>
        <p:txBody>
          <a:bodyPr wrap="square" lIns="0" tIns="0" rIns="0" bIns="0" rtlCol="0" anchor="ctr"/>
          <a:lstStyle/>
          <a:p>
            <a:pPr marL="0" indent="0">
              <a:buNone/>
            </a:pPr>
            <a:r>
              <a:rPr lang="en-US" sz="1250" dirty="0">
                <a:solidFill>
                  <a:schemeClr val="tx1"/>
                </a:solidFill>
                <a:latin typeface="Calibri" pitchFamily="34" charset="0"/>
                <a:ea typeface="Calibri" pitchFamily="34" charset="-122"/>
                <a:cs typeface="Calibri" pitchFamily="34" charset="-120"/>
              </a:rPr>
              <a:t>Si no los hay: zonas habilitadas por Cabildo o Ayuntamiento en fincas públicas o privadas</a:t>
            </a:r>
            <a:endParaRPr lang="en-US" sz="1250" dirty="0"/>
          </a:p>
        </p:txBody>
      </p:sp>
      <p:sp>
        <p:nvSpPr>
          <p:cNvPr id="16" name="reglas"/>
          <p:cNvSpPr/>
          <p:nvPr/>
        </p:nvSpPr>
        <p:spPr>
          <a:xfrm>
            <a:off x="4937760" y="914400"/>
            <a:ext cx="3749040" cy="3703320"/>
          </a:xfrm>
          <a:prstGeom prst="roundRect">
            <a:avLst>
              <a:gd name="adj" fmla="val 1975"/>
            </a:avLst>
          </a:prstGeom>
          <a:solidFill>
            <a:schemeClr val="tx2"/>
          </a:solidFill>
          <a:ln w="12700">
            <a:solidFill>
              <a:schemeClr val="tx2"/>
            </a:solidFill>
            <a:prstDash val="solid"/>
          </a:ln>
        </p:spPr>
      </p:sp>
      <p:sp>
        <p:nvSpPr>
          <p:cNvPr id="17" name="Text 15"/>
          <p:cNvSpPr txBox="1"/>
          <p:nvPr/>
        </p:nvSpPr>
        <p:spPr>
          <a:xfrm>
            <a:off x="5120640" y="1051560"/>
            <a:ext cx="3383280" cy="320040"/>
          </a:xfrm>
          <a:prstGeom prst="rect">
            <a:avLst/>
          </a:prstGeom>
          <a:noFill/>
          <a:ln/>
        </p:spPr>
        <p:txBody>
          <a:bodyPr wrap="square" lIns="0" tIns="0" rIns="0" bIns="0" rtlCol="0" anchor="t"/>
          <a:lstStyle/>
          <a:p>
            <a:pPr marL="0" indent="0">
              <a:buNone/>
            </a:pPr>
            <a:r>
              <a:rPr lang="en-US" sz="1300" b="1" dirty="0">
                <a:solidFill>
                  <a:schemeClr val="accent1"/>
                </a:solidFill>
                <a:latin typeface="Calibri" pitchFamily="34" charset="0"/>
                <a:ea typeface="Calibri" pitchFamily="34" charset="-122"/>
                <a:cs typeface="Calibri" pitchFamily="34" charset="-120"/>
              </a:rPr>
              <a:t>Reglas que condicionan las plazas</a:t>
            </a:r>
            <a:endParaRPr lang="en-US" sz="1300" dirty="0"/>
          </a:p>
        </p:txBody>
      </p:sp>
      <p:sp>
        <p:nvSpPr>
          <p:cNvPr id="18" name="Text 16"/>
          <p:cNvSpPr txBox="1"/>
          <p:nvPr/>
        </p:nvSpPr>
        <p:spPr>
          <a:xfrm>
            <a:off x="5120640" y="1463040"/>
            <a:ext cx="3429000" cy="30175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bg1"/>
                </a:solidFill>
                <a:latin typeface="Calibri" pitchFamily="34" charset="0"/>
                <a:ea typeface="Calibri" pitchFamily="34" charset="-122"/>
                <a:cs typeface="Calibri" pitchFamily="34" charset="-120"/>
              </a:rPr>
              <a:t>Las mascotas no entran en los albergues de personas, salvo los perros de asistencia</a:t>
            </a:r>
            <a:endParaRPr lang="en-US" sz="1200" dirty="0"/>
          </a:p>
          <a:p>
            <a:pPr marL="152400" indent="-152400">
              <a:spcAft>
                <a:spcPts val="400"/>
              </a:spcAft>
              <a:buSzPct val="100000"/>
              <a:buChar char="•"/>
            </a:pPr>
            <a:r>
              <a:rPr lang="en-US" sz="1200" dirty="0">
                <a:solidFill>
                  <a:schemeClr val="bg1"/>
                </a:solidFill>
                <a:latin typeface="Calibri" pitchFamily="34" charset="0"/>
                <a:ea typeface="Calibri" pitchFamily="34" charset="-122"/>
                <a:cs typeface="Calibri" pitchFamily="34" charset="-120"/>
              </a:rPr>
              <a:t>Espacios propios para animales potencialmente peligrosos</a:t>
            </a:r>
            <a:endParaRPr lang="en-US" sz="1200" dirty="0"/>
          </a:p>
          <a:p>
            <a:pPr marL="152400" indent="-152400">
              <a:spcAft>
                <a:spcPts val="400"/>
              </a:spcAft>
              <a:buSzPct val="100000"/>
              <a:buChar char="•"/>
            </a:pPr>
            <a:r>
              <a:rPr lang="en-US" sz="1200" dirty="0">
                <a:solidFill>
                  <a:schemeClr val="bg1"/>
                </a:solidFill>
                <a:latin typeface="Calibri" pitchFamily="34" charset="0"/>
                <a:ea typeface="Calibri" pitchFamily="34" charset="-122"/>
                <a:cs typeface="Calibri" pitchFamily="34" charset="-120"/>
              </a:rPr>
              <a:t>Instalaciones permanentes o fácilmente desmontables</a:t>
            </a:r>
            <a:endParaRPr lang="en-US" sz="1200" dirty="0"/>
          </a:p>
          <a:p>
            <a:pPr marL="152400" indent="-152400">
              <a:spcAft>
                <a:spcPts val="400"/>
              </a:spcAft>
              <a:buSzPct val="100000"/>
              <a:buChar char="•"/>
            </a:pPr>
            <a:r>
              <a:rPr lang="en-US" sz="1200" dirty="0">
                <a:solidFill>
                  <a:schemeClr val="bg1"/>
                </a:solidFill>
                <a:latin typeface="Calibri" pitchFamily="34" charset="0"/>
                <a:ea typeface="Calibri" pitchFamily="34" charset="-122"/>
                <a:cs typeface="Calibri" pitchFamily="34" charset="-120"/>
              </a:rPr>
              <a:t>Filiación, control y evaluación sanitaria por personal veterinario</a:t>
            </a:r>
            <a:endParaRPr lang="en-US" sz="1200" dirty="0"/>
          </a:p>
          <a:p>
            <a:pPr marL="152400" indent="-152400">
              <a:spcAft>
                <a:spcPts val="400"/>
              </a:spcAft>
              <a:buSzPct val="100000"/>
              <a:buChar char="•"/>
            </a:pPr>
            <a:r>
              <a:rPr lang="en-US" sz="1200" dirty="0">
                <a:solidFill>
                  <a:schemeClr val="bg1"/>
                </a:solidFill>
                <a:latin typeface="Calibri" pitchFamily="34" charset="0"/>
                <a:ea typeface="Calibri" pitchFamily="34" charset="-122"/>
                <a:cs typeface="Calibri" pitchFamily="34" charset="-120"/>
              </a:rPr>
              <a:t>Separación por especie y entre animales heridos y sanos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Guía de Isora: ¿cubrimos un naranja en Chirche y Aripe?</a:t>
            </a:r>
            <a:endParaRPr lang="en-US" sz="2400" dirty="0"/>
          </a:p>
        </p:txBody>
      </p:sp>
      <p:graphicFrame>
        <p:nvGraphicFramePr>
          <p:cNvPr id="8" name="tabla-recursos"/>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2651760"/>
        </p:xfrm>
        <a:graphic>
          <a:graphicData uri="http://schemas.openxmlformats.org/drawingml/2006/table">
            <a:tbl>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Necesidad</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Recurso disponible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Capacidad</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Situación</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200 cabras · Chirche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Explotación de ovino, Camino La Tablada</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Sin dato</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Verificar</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rgbClr val="C99A2E"/>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20 perros de protectora · Aripe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Residencia canina, Pista de Alzola, y Centro La Traílla (convenio)</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Hasta 100 perros</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Cubierto</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rgbClr val="2F6B4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≈15 gatos de colonia · Aripe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Asociación Salva Misio Isora</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Sin dato</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Déficit probable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rgbClr val="A8402B"/>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Animales heridos o especiales</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Centro municipal de rescate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4 perros y 2 gatos</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Solo para triaje</a:t>
                      </a:r>
                      <a:endParaRPr lang="en-US" sz="1200" dirty="0">
                        <a:latin typeface="Calibri" charset="0"/>
                        <a:ea typeface="Calibri" charset="0"/>
                        <a:cs typeface="Calibri" charset="0"/>
                      </a:endParaRPr>
                    </a:p>
                  </a:txBody>
                  <a:tcPr anchor="ctr">
                    <a:lnL w="6350" cap="flat" cmpd="sng" algn="ctr">
                      <a:solidFill>
                        <a:srgbClr val="88A596"/>
                      </a:solidFill>
                      <a:prstDash val="solid"/>
                      <a:round/>
                      <a:headEnd type="none" w="med" len="med"/>
                      <a:tailEnd type="none" w="med" len="med"/>
                    </a:lnL>
                    <a:lnR w="6350" cap="flat" cmpd="sng" algn="ctr">
                      <a:solidFill>
                        <a:srgbClr val="88A596"/>
                      </a:solidFill>
                      <a:prstDash val="solid"/>
                      <a:round/>
                      <a:headEnd type="none" w="med" len="med"/>
                      <a:tailEnd type="none" w="med" len="med"/>
                    </a:lnR>
                    <a:lnT w="6350" cap="flat" cmpd="sng" algn="ctr">
                      <a:solidFill>
                        <a:srgbClr val="88A596"/>
                      </a:solidFill>
                      <a:prstDash val="solid"/>
                      <a:round/>
                      <a:headEnd type="none" w="med" len="med"/>
                      <a:tailEnd type="none" w="med" len="med"/>
                    </a:lnT>
                    <a:lnB w="6350" cap="flat" cmpd="sng" algn="ctr">
                      <a:solidFill>
                        <a:srgbClr val="88A596"/>
                      </a:solidFill>
                      <a:prstDash val="solid"/>
                      <a:round/>
                      <a:headEnd type="none" w="med" len="med"/>
                      <a:tailEnd type="none" w="med" len="med"/>
                    </a:lnB>
                    <a:solidFill>
                      <a:srgbClr val="C99A2E"/>
                    </a:solidFill>
                  </a:tcPr>
                </a:tc>
                <a:extLst>
                  <a:ext uri="{0D108BD9-81ED-4DB2-BD59-A6C34878D82A}">
                    <a16:rowId xmlns:a16="http://schemas.microsoft.com/office/drawing/2014/main" val="10004"/>
                  </a:ext>
                </a:extLst>
              </a:tr>
            </a:tbl>
          </a:graphicData>
        </a:graphic>
      </p:graphicFrame>
      <p:sp>
        <p:nvSpPr>
          <p:cNvPr id="4" name="conclusion"/>
          <p:cNvSpPr/>
          <p:nvPr/>
        </p:nvSpPr>
        <p:spPr>
          <a:xfrm>
            <a:off x="457200" y="3840480"/>
            <a:ext cx="8229600" cy="777240"/>
          </a:xfrm>
          <a:prstGeom prst="roundRect">
            <a:avLst>
              <a:gd name="adj" fmla="val 9412"/>
            </a:avLst>
          </a:prstGeom>
          <a:solidFill>
            <a:schemeClr val="bg2"/>
          </a:solidFill>
          <a:ln w="12700">
            <a:solidFill>
              <a:schemeClr val="bg2"/>
            </a:solidFill>
            <a:prstDash val="solid"/>
          </a:ln>
        </p:spPr>
      </p:sp>
      <p:sp>
        <p:nvSpPr>
          <p:cNvPr id="5" name="circulo-FaTriangleExclamation"/>
          <p:cNvSpPr/>
          <p:nvPr/>
        </p:nvSpPr>
        <p:spPr>
          <a:xfrm>
            <a:off x="594360" y="3950208"/>
            <a:ext cx="548640" cy="548640"/>
          </a:xfrm>
          <a:prstGeom prst="ellipse">
            <a:avLst/>
          </a:prstGeom>
          <a:solidFill>
            <a:schemeClr val="accent1"/>
          </a:solidFill>
          <a:ln w="12700">
            <a:solidFill>
              <a:schemeClr val="accent1"/>
            </a:solidFill>
            <a:prstDash val="solid"/>
          </a:ln>
        </p:spPr>
      </p:sp>
      <p:pic>
        <p:nvPicPr>
          <p:cNvPr id="6" name="icono-FaTriangleExclamation" descr="preencoded.png"/>
          <p:cNvPicPr>
            <a:picLocks noChangeAspect="1"/>
          </p:cNvPicPr>
          <p:nvPr/>
        </p:nvPicPr>
        <p:blipFill>
          <a:blip r:embed="rId3"/>
          <a:stretch>
            <a:fillRect/>
          </a:stretch>
        </p:blipFill>
        <p:spPr>
          <a:xfrm>
            <a:off x="726034" y="4081882"/>
            <a:ext cx="285293" cy="285293"/>
          </a:xfrm>
          <a:prstGeom prst="rect">
            <a:avLst/>
          </a:prstGeom>
        </p:spPr>
      </p:pic>
      <p:sp>
        <p:nvSpPr>
          <p:cNvPr id="7" name="Text 3"/>
          <p:cNvSpPr txBox="1"/>
          <p:nvPr/>
        </p:nvSpPr>
        <p:spPr>
          <a:xfrm>
            <a:off x="1325880" y="3886200"/>
            <a:ext cx="7223760" cy="685800"/>
          </a:xfrm>
          <a:prstGeom prst="rect">
            <a:avLst/>
          </a:prstGeom>
          <a:noFill/>
          <a:ln/>
        </p:spPr>
        <p:txBody>
          <a:bodyPr wrap="square" lIns="0" tIns="0" rIns="0" bIns="0" rtlCol="0" anchor="ctr"/>
          <a:lstStyle/>
          <a:p>
            <a:pPr marL="0" indent="0">
              <a:buNone/>
            </a:pPr>
            <a:r>
              <a:rPr lang="en-US" sz="1250" dirty="0">
                <a:solidFill>
                  <a:schemeClr val="tx1"/>
                </a:solidFill>
                <a:latin typeface="Calibri" pitchFamily="34" charset="0"/>
                <a:ea typeface="Calibri" pitchFamily="34" charset="-122"/>
                <a:cs typeface="Calibri" pitchFamily="34" charset="-120"/>
              </a:rPr>
              <a:t>Para que el catálogo sirva en naranja hay que confirmar capacidades, formalizar convenios y comprobar que cada destino queda fuera de la zona de riesgo volcánico.</a:t>
            </a:r>
            <a:endParaRPr lang="en-US" sz="12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Material: albergue, abastecimiento, sanitario y auxiliar</a:t>
            </a:r>
            <a:endParaRPr lang="en-US" sz="2400" dirty="0"/>
          </a:p>
        </p:txBody>
      </p:sp>
      <p:sp>
        <p:nvSpPr>
          <p:cNvPr id="3" name="bloque-1"/>
          <p:cNvSpPr/>
          <p:nvPr/>
        </p:nvSpPr>
        <p:spPr>
          <a:xfrm>
            <a:off x="457200" y="914400"/>
            <a:ext cx="4041648" cy="1783080"/>
          </a:xfrm>
          <a:prstGeom prst="roundRect">
            <a:avLst>
              <a:gd name="adj" fmla="val 4103"/>
            </a:avLst>
          </a:prstGeom>
          <a:solidFill>
            <a:schemeClr val="bg2"/>
          </a:solidFill>
          <a:ln w="12700">
            <a:solidFill>
              <a:schemeClr val="bg2"/>
            </a:solidFill>
            <a:prstDash val="solid"/>
          </a:ln>
        </p:spPr>
      </p:sp>
      <p:sp>
        <p:nvSpPr>
          <p:cNvPr id="4" name="circulo-FaWarehouse"/>
          <p:cNvSpPr/>
          <p:nvPr/>
        </p:nvSpPr>
        <p:spPr>
          <a:xfrm>
            <a:off x="621792" y="1078992"/>
            <a:ext cx="502920" cy="502920"/>
          </a:xfrm>
          <a:prstGeom prst="ellipse">
            <a:avLst/>
          </a:prstGeom>
          <a:solidFill>
            <a:schemeClr val="accent2"/>
          </a:solidFill>
          <a:ln w="12700">
            <a:solidFill>
              <a:schemeClr val="accent2"/>
            </a:solidFill>
            <a:prstDash val="solid"/>
          </a:ln>
        </p:spPr>
      </p:sp>
      <p:pic>
        <p:nvPicPr>
          <p:cNvPr id="5" name="icono-FaWarehouse" descr="preencoded.png"/>
          <p:cNvPicPr>
            <a:picLocks noChangeAspect="1"/>
          </p:cNvPicPr>
          <p:nvPr/>
        </p:nvPicPr>
        <p:blipFill>
          <a:blip r:embed="rId3"/>
          <a:stretch>
            <a:fillRect/>
          </a:stretch>
        </p:blipFill>
        <p:spPr>
          <a:xfrm>
            <a:off x="742493" y="1199693"/>
            <a:ext cx="261518" cy="261518"/>
          </a:xfrm>
          <a:prstGeom prst="rect">
            <a:avLst/>
          </a:prstGeom>
        </p:spPr>
      </p:pic>
      <p:sp>
        <p:nvSpPr>
          <p:cNvPr id="6" name="Text 3"/>
          <p:cNvSpPr txBox="1"/>
          <p:nvPr/>
        </p:nvSpPr>
        <p:spPr>
          <a:xfrm>
            <a:off x="1234440" y="1078992"/>
            <a:ext cx="3127248"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Instalaciones (2.3.3)</a:t>
            </a:r>
            <a:endParaRPr lang="en-US" sz="1400" dirty="0"/>
          </a:p>
        </p:txBody>
      </p:sp>
      <p:sp>
        <p:nvSpPr>
          <p:cNvPr id="7" name="Text 4"/>
          <p:cNvSpPr txBox="1"/>
          <p:nvPr/>
        </p:nvSpPr>
        <p:spPr>
          <a:xfrm>
            <a:off x="640080" y="1691640"/>
            <a:ext cx="3675888" cy="91440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Vallas, cercas o naves desmontables por especie</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Bebederos y comederos portátiles</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Sombra, electricidad y depósito de residuos</a:t>
            </a:r>
            <a:endParaRPr lang="en-US" sz="1150" dirty="0"/>
          </a:p>
        </p:txBody>
      </p:sp>
      <p:sp>
        <p:nvSpPr>
          <p:cNvPr id="8" name="bloque-2"/>
          <p:cNvSpPr/>
          <p:nvPr/>
        </p:nvSpPr>
        <p:spPr>
          <a:xfrm>
            <a:off x="4645152" y="914400"/>
            <a:ext cx="4041648" cy="1783080"/>
          </a:xfrm>
          <a:prstGeom prst="roundRect">
            <a:avLst>
              <a:gd name="adj" fmla="val 4103"/>
            </a:avLst>
          </a:prstGeom>
          <a:solidFill>
            <a:schemeClr val="bg2"/>
          </a:solidFill>
          <a:ln w="12700">
            <a:solidFill>
              <a:schemeClr val="bg2"/>
            </a:solidFill>
            <a:prstDash val="solid"/>
          </a:ln>
        </p:spPr>
      </p:sp>
      <p:sp>
        <p:nvSpPr>
          <p:cNvPr id="9" name="circulo-FaBoxOpen"/>
          <p:cNvSpPr/>
          <p:nvPr/>
        </p:nvSpPr>
        <p:spPr>
          <a:xfrm>
            <a:off x="4809744" y="1078992"/>
            <a:ext cx="502920" cy="502920"/>
          </a:xfrm>
          <a:prstGeom prst="ellipse">
            <a:avLst/>
          </a:prstGeom>
          <a:solidFill>
            <a:schemeClr val="accent1"/>
          </a:solidFill>
          <a:ln w="12700">
            <a:solidFill>
              <a:schemeClr val="accent1"/>
            </a:solidFill>
            <a:prstDash val="solid"/>
          </a:ln>
        </p:spPr>
      </p:sp>
      <p:pic>
        <p:nvPicPr>
          <p:cNvPr id="10" name="icono-FaBoxOpen" descr="preencoded.png"/>
          <p:cNvPicPr>
            <a:picLocks noChangeAspect="1"/>
          </p:cNvPicPr>
          <p:nvPr/>
        </p:nvPicPr>
        <p:blipFill>
          <a:blip r:embed="rId4"/>
          <a:stretch>
            <a:fillRect/>
          </a:stretch>
        </p:blipFill>
        <p:spPr>
          <a:xfrm>
            <a:off x="4930445" y="1199693"/>
            <a:ext cx="261518" cy="261518"/>
          </a:xfrm>
          <a:prstGeom prst="rect">
            <a:avLst/>
          </a:prstGeom>
        </p:spPr>
      </p:pic>
      <p:sp>
        <p:nvSpPr>
          <p:cNvPr id="11" name="Text 7"/>
          <p:cNvSpPr txBox="1"/>
          <p:nvPr/>
        </p:nvSpPr>
        <p:spPr>
          <a:xfrm>
            <a:off x="5422392" y="1078992"/>
            <a:ext cx="3127248"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Abastecimiento (2.3.3)</a:t>
            </a:r>
            <a:endParaRPr lang="en-US" sz="1400" dirty="0"/>
          </a:p>
        </p:txBody>
      </p:sp>
      <p:sp>
        <p:nvSpPr>
          <p:cNvPr id="12" name="Text 8"/>
          <p:cNvSpPr txBox="1"/>
          <p:nvPr/>
        </p:nvSpPr>
        <p:spPr>
          <a:xfrm>
            <a:off x="4828032" y="1691640"/>
            <a:ext cx="3675888" cy="91440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Agua y alimento no perecedero para varios días</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Medicación supervisada por veterinario</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Ceniza en pastos y agua: suministro de fuera</a:t>
            </a:r>
            <a:endParaRPr lang="en-US" sz="1150" dirty="0"/>
          </a:p>
        </p:txBody>
      </p:sp>
      <p:sp>
        <p:nvSpPr>
          <p:cNvPr id="13" name="bloque-3"/>
          <p:cNvSpPr/>
          <p:nvPr/>
        </p:nvSpPr>
        <p:spPr>
          <a:xfrm>
            <a:off x="457200" y="2807208"/>
            <a:ext cx="4041648" cy="1783080"/>
          </a:xfrm>
          <a:prstGeom prst="roundRect">
            <a:avLst>
              <a:gd name="adj" fmla="val 4103"/>
            </a:avLst>
          </a:prstGeom>
          <a:solidFill>
            <a:schemeClr val="bg2"/>
          </a:solidFill>
          <a:ln w="12700">
            <a:solidFill>
              <a:schemeClr val="bg2"/>
            </a:solidFill>
            <a:prstDash val="solid"/>
          </a:ln>
        </p:spPr>
      </p:sp>
      <p:sp>
        <p:nvSpPr>
          <p:cNvPr id="14" name="circulo-FaKitMedical"/>
          <p:cNvSpPr/>
          <p:nvPr/>
        </p:nvSpPr>
        <p:spPr>
          <a:xfrm>
            <a:off x="621792" y="2971800"/>
            <a:ext cx="502920" cy="502920"/>
          </a:xfrm>
          <a:prstGeom prst="ellipse">
            <a:avLst/>
          </a:prstGeom>
          <a:solidFill>
            <a:schemeClr val="accent3"/>
          </a:solidFill>
          <a:ln w="12700">
            <a:solidFill>
              <a:schemeClr val="accent3"/>
            </a:solidFill>
            <a:prstDash val="solid"/>
          </a:ln>
        </p:spPr>
      </p:sp>
      <p:pic>
        <p:nvPicPr>
          <p:cNvPr id="15" name="icono-FaKitMedical" descr="preencoded.png"/>
          <p:cNvPicPr>
            <a:picLocks noChangeAspect="1"/>
          </p:cNvPicPr>
          <p:nvPr/>
        </p:nvPicPr>
        <p:blipFill>
          <a:blip r:embed="rId5"/>
          <a:stretch>
            <a:fillRect/>
          </a:stretch>
        </p:blipFill>
        <p:spPr>
          <a:xfrm>
            <a:off x="742493" y="3092501"/>
            <a:ext cx="261518" cy="261518"/>
          </a:xfrm>
          <a:prstGeom prst="rect">
            <a:avLst/>
          </a:prstGeom>
        </p:spPr>
      </p:pic>
      <p:sp>
        <p:nvSpPr>
          <p:cNvPr id="16" name="Text 11"/>
          <p:cNvSpPr txBox="1"/>
          <p:nvPr/>
        </p:nvSpPr>
        <p:spPr>
          <a:xfrm>
            <a:off x="1234440" y="2971800"/>
            <a:ext cx="3127248"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Sanitario (2.3.4)</a:t>
            </a:r>
            <a:endParaRPr lang="en-US" sz="1400" dirty="0"/>
          </a:p>
        </p:txBody>
      </p:sp>
      <p:sp>
        <p:nvSpPr>
          <p:cNvPr id="17" name="Text 12"/>
          <p:cNvSpPr txBox="1"/>
          <p:nvPr/>
        </p:nvSpPr>
        <p:spPr>
          <a:xfrm>
            <a:off x="640080" y="3584448"/>
            <a:ext cx="3675888" cy="91440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Triaje veterinario y ficha de triaje</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Sedación cuando sea necesaria</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Retirada de animales muertos, identificados para el seguro</a:t>
            </a:r>
            <a:endParaRPr lang="en-US" sz="1150" dirty="0"/>
          </a:p>
        </p:txBody>
      </p:sp>
      <p:sp>
        <p:nvSpPr>
          <p:cNvPr id="18" name="bloque-4"/>
          <p:cNvSpPr/>
          <p:nvPr/>
        </p:nvSpPr>
        <p:spPr>
          <a:xfrm>
            <a:off x="4645152" y="2807208"/>
            <a:ext cx="4041648" cy="1783080"/>
          </a:xfrm>
          <a:prstGeom prst="roundRect">
            <a:avLst>
              <a:gd name="adj" fmla="val 4103"/>
            </a:avLst>
          </a:prstGeom>
          <a:solidFill>
            <a:schemeClr val="bg2"/>
          </a:solidFill>
          <a:ln w="12700">
            <a:solidFill>
              <a:schemeClr val="bg2"/>
            </a:solidFill>
            <a:prstDash val="solid"/>
          </a:ln>
        </p:spPr>
      </p:sp>
      <p:sp>
        <p:nvSpPr>
          <p:cNvPr id="19" name="circulo-FaToolbox"/>
          <p:cNvSpPr/>
          <p:nvPr/>
        </p:nvSpPr>
        <p:spPr>
          <a:xfrm>
            <a:off x="4809744" y="2971800"/>
            <a:ext cx="502920" cy="502920"/>
          </a:xfrm>
          <a:prstGeom prst="ellipse">
            <a:avLst/>
          </a:prstGeom>
          <a:solidFill>
            <a:schemeClr val="accent5"/>
          </a:solidFill>
          <a:ln w="12700">
            <a:solidFill>
              <a:schemeClr val="accent5"/>
            </a:solidFill>
            <a:prstDash val="solid"/>
          </a:ln>
        </p:spPr>
      </p:sp>
      <p:pic>
        <p:nvPicPr>
          <p:cNvPr id="20" name="icono-FaToolbox" descr="preencoded.png"/>
          <p:cNvPicPr>
            <a:picLocks noChangeAspect="1"/>
          </p:cNvPicPr>
          <p:nvPr/>
        </p:nvPicPr>
        <p:blipFill>
          <a:blip r:embed="rId6"/>
          <a:stretch>
            <a:fillRect/>
          </a:stretch>
        </p:blipFill>
        <p:spPr>
          <a:xfrm>
            <a:off x="4930445" y="3092501"/>
            <a:ext cx="261518" cy="261518"/>
          </a:xfrm>
          <a:prstGeom prst="rect">
            <a:avLst/>
          </a:prstGeom>
        </p:spPr>
      </p:pic>
      <p:sp>
        <p:nvSpPr>
          <p:cNvPr id="21" name="Text 15"/>
          <p:cNvSpPr txBox="1"/>
          <p:nvPr/>
        </p:nvSpPr>
        <p:spPr>
          <a:xfrm>
            <a:off x="5422392" y="2971800"/>
            <a:ext cx="3127248"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Auxiliar (2.3.6)</a:t>
            </a:r>
            <a:endParaRPr lang="en-US" sz="1400" dirty="0"/>
          </a:p>
        </p:txBody>
      </p:sp>
      <p:sp>
        <p:nvSpPr>
          <p:cNvPr id="22" name="Text 16"/>
          <p:cNvSpPr txBox="1"/>
          <p:nvPr/>
        </p:nvSpPr>
        <p:spPr>
          <a:xfrm>
            <a:off x="4828032" y="3584448"/>
            <a:ext cx="3675888" cy="91440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Cuerdas o lazos, palas, cubos, basureros con tapa y lonas</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Equipo de captura: contenedor ventilado, bozal, cubre ojos y orejas</a:t>
            </a:r>
            <a:endParaRPr lang="en-US" sz="1150" dirty="0"/>
          </a:p>
          <a:p>
            <a:pPr marL="152400" indent="-152400">
              <a:spcAft>
                <a:spcPts val="400"/>
              </a:spcAft>
              <a:buSzPct val="100000"/>
              <a:buChar char="•"/>
            </a:pPr>
            <a:r>
              <a:rPr lang="en-US" sz="1150" dirty="0">
                <a:solidFill>
                  <a:schemeClr val="tx1"/>
                </a:solidFill>
                <a:latin typeface="Calibri" pitchFamily="34" charset="0"/>
                <a:ea typeface="Calibri" pitchFamily="34" charset="-122"/>
                <a:cs typeface="Calibri" pitchFamily="34" charset="-120"/>
              </a:rPr>
              <a:t>EPI: botas, guantes, chaleco reflectante, manga larga</a:t>
            </a:r>
            <a:endParaRPr lang="en-US" sz="11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Cambria" pitchFamily="34" charset="0"/>
                <a:ea typeface="Cambria" pitchFamily="34" charset="-122"/>
                <a:cs typeface="Cambria" pitchFamily="34" charset="-120"/>
              </a:rPr>
              <a:t>Cómo se movilizan los medios</a:t>
            </a:r>
            <a:endParaRPr lang="en-US" sz="2400" dirty="0"/>
          </a:p>
        </p:txBody>
      </p:sp>
      <p:sp>
        <p:nvSpPr>
          <p:cNvPr id="3" name="Text 1"/>
          <p:cNvSpPr txBox="1"/>
          <p:nvPr/>
        </p:nvSpPr>
        <p:spPr>
          <a:xfrm>
            <a:off x="457200" y="868680"/>
            <a:ext cx="8229600" cy="41148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El apartado 6 del Protocolo fija un orden. Las entidades locales dan la primera respuesta porque tienen la información más precisa.</a:t>
            </a:r>
            <a:endParaRPr lang="en-US" sz="1300" dirty="0"/>
          </a:p>
        </p:txBody>
      </p:sp>
      <p:sp>
        <p:nvSpPr>
          <p:cNvPr id="4" name="paso-1"/>
          <p:cNvSpPr/>
          <p:nvPr/>
        </p:nvSpPr>
        <p:spPr>
          <a:xfrm>
            <a:off x="457200" y="1463040"/>
            <a:ext cx="1874520" cy="1965960"/>
          </a:xfrm>
          <a:prstGeom prst="roundRect">
            <a:avLst>
              <a:gd name="adj" fmla="val 3902"/>
            </a:avLst>
          </a:prstGeom>
          <a:solidFill>
            <a:schemeClr val="bg2"/>
          </a:solidFill>
          <a:ln w="12700">
            <a:solidFill>
              <a:schemeClr val="bg2"/>
            </a:solidFill>
            <a:prstDash val="solid"/>
          </a:ln>
        </p:spPr>
      </p:sp>
      <p:sp>
        <p:nvSpPr>
          <p:cNvPr id="5" name="circulo-FaBuildingShield"/>
          <p:cNvSpPr/>
          <p:nvPr/>
        </p:nvSpPr>
        <p:spPr>
          <a:xfrm>
            <a:off x="1074420" y="1645920"/>
            <a:ext cx="640080" cy="640080"/>
          </a:xfrm>
          <a:prstGeom prst="ellipse">
            <a:avLst/>
          </a:prstGeom>
          <a:solidFill>
            <a:schemeClr val="accent2"/>
          </a:solidFill>
          <a:ln w="12700">
            <a:solidFill>
              <a:schemeClr val="accent2"/>
            </a:solidFill>
            <a:prstDash val="solid"/>
          </a:ln>
        </p:spPr>
      </p:sp>
      <p:pic>
        <p:nvPicPr>
          <p:cNvPr id="6" name="icono-FaBuildingShield" descr="preencoded.png"/>
          <p:cNvPicPr>
            <a:picLocks noChangeAspect="1"/>
          </p:cNvPicPr>
          <p:nvPr/>
        </p:nvPicPr>
        <p:blipFill>
          <a:blip r:embed="rId3"/>
          <a:stretch>
            <a:fillRect/>
          </a:stretch>
        </p:blipFill>
        <p:spPr>
          <a:xfrm>
            <a:off x="1228039" y="1799539"/>
            <a:ext cx="332842" cy="332842"/>
          </a:xfrm>
          <a:prstGeom prst="rect">
            <a:avLst/>
          </a:prstGeom>
        </p:spPr>
      </p:pic>
      <p:sp>
        <p:nvSpPr>
          <p:cNvPr id="7" name="Text 4"/>
          <p:cNvSpPr txBox="1"/>
          <p:nvPr/>
        </p:nvSpPr>
        <p:spPr>
          <a:xfrm>
            <a:off x="566928" y="2359152"/>
            <a:ext cx="1655064" cy="457200"/>
          </a:xfrm>
          <a:prstGeom prst="rect">
            <a:avLst/>
          </a:prstGeom>
          <a:noFill/>
          <a:ln/>
        </p:spPr>
        <p:txBody>
          <a:bodyPr wrap="square" lIns="0" tIns="0" rIns="0" bIns="0" rtlCol="0" anchor="t"/>
          <a:lstStyle/>
          <a:p>
            <a:pPr marL="0" indent="0" algn="ctr">
              <a:buNone/>
            </a:pPr>
            <a:r>
              <a:rPr lang="en-US" sz="1350" b="1" dirty="0">
                <a:solidFill>
                  <a:schemeClr val="tx2"/>
                </a:solidFill>
                <a:latin typeface="Calibri" pitchFamily="34" charset="0"/>
                <a:ea typeface="Calibri" pitchFamily="34" charset="-122"/>
                <a:cs typeface="Calibri" pitchFamily="34" charset="-120"/>
              </a:rPr>
              <a:t>Medios públicos locales</a:t>
            </a:r>
            <a:endParaRPr lang="en-US" sz="1350" dirty="0"/>
          </a:p>
        </p:txBody>
      </p:sp>
      <p:sp>
        <p:nvSpPr>
          <p:cNvPr id="8" name="Text 5"/>
          <p:cNvSpPr txBox="1"/>
          <p:nvPr/>
        </p:nvSpPr>
        <p:spPr>
          <a:xfrm>
            <a:off x="566928" y="2834640"/>
            <a:ext cx="1655064" cy="640080"/>
          </a:xfrm>
          <a:prstGeom prst="rect">
            <a:avLst/>
          </a:prstGeom>
          <a:noFill/>
          <a:ln/>
        </p:spPr>
        <p:txBody>
          <a:bodyPr wrap="square" lIns="0" tIns="0" rIns="0" bIns="0" rtlCol="0" anchor="t"/>
          <a:lstStyle/>
          <a:p>
            <a:pPr marL="0" indent="0" algn="ctr">
              <a:buNone/>
            </a:pPr>
            <a:r>
              <a:rPr lang="en-US" sz="1100" dirty="0">
                <a:solidFill>
                  <a:schemeClr val="accent5"/>
                </a:solidFill>
                <a:latin typeface="Calibri" pitchFamily="34" charset="0"/>
                <a:ea typeface="Calibri" pitchFamily="34" charset="-122"/>
                <a:cs typeface="Calibri" pitchFamily="34" charset="-120"/>
              </a:rPr>
              <a:t>Ayuntamiento y Cabildo</a:t>
            </a:r>
            <a:endParaRPr lang="en-US" sz="1100" dirty="0"/>
          </a:p>
        </p:txBody>
      </p:sp>
      <p:sp>
        <p:nvSpPr>
          <p:cNvPr id="9" name="flecha-1"/>
          <p:cNvSpPr/>
          <p:nvPr/>
        </p:nvSpPr>
        <p:spPr>
          <a:xfrm>
            <a:off x="2368296" y="2331720"/>
            <a:ext cx="173736" cy="274320"/>
          </a:xfrm>
          <a:prstGeom prst="chevron">
            <a:avLst/>
          </a:prstGeom>
          <a:solidFill>
            <a:schemeClr val="accent1"/>
          </a:solidFill>
          <a:ln w="12700">
            <a:solidFill>
              <a:schemeClr val="accent1"/>
            </a:solidFill>
            <a:prstDash val="solid"/>
          </a:ln>
        </p:spPr>
      </p:sp>
      <p:sp>
        <p:nvSpPr>
          <p:cNvPr id="10" name="paso-2"/>
          <p:cNvSpPr/>
          <p:nvPr/>
        </p:nvSpPr>
        <p:spPr>
          <a:xfrm>
            <a:off x="2578608" y="1463040"/>
            <a:ext cx="1874520" cy="1965960"/>
          </a:xfrm>
          <a:prstGeom prst="roundRect">
            <a:avLst>
              <a:gd name="adj" fmla="val 3902"/>
            </a:avLst>
          </a:prstGeom>
          <a:solidFill>
            <a:schemeClr val="bg2"/>
          </a:solidFill>
          <a:ln w="12700">
            <a:solidFill>
              <a:schemeClr val="bg2"/>
            </a:solidFill>
            <a:prstDash val="solid"/>
          </a:ln>
        </p:spPr>
      </p:sp>
      <p:sp>
        <p:nvSpPr>
          <p:cNvPr id="11" name="circulo-FaShieldHalved"/>
          <p:cNvSpPr/>
          <p:nvPr/>
        </p:nvSpPr>
        <p:spPr>
          <a:xfrm>
            <a:off x="3195828" y="1645920"/>
            <a:ext cx="640080" cy="640080"/>
          </a:xfrm>
          <a:prstGeom prst="ellipse">
            <a:avLst/>
          </a:prstGeom>
          <a:solidFill>
            <a:schemeClr val="accent5"/>
          </a:solidFill>
          <a:ln w="12700">
            <a:solidFill>
              <a:schemeClr val="accent5"/>
            </a:solidFill>
            <a:prstDash val="solid"/>
          </a:ln>
        </p:spPr>
      </p:sp>
      <p:pic>
        <p:nvPicPr>
          <p:cNvPr id="12" name="icono-FaShieldHalved" descr="preencoded.png"/>
          <p:cNvPicPr>
            <a:picLocks noChangeAspect="1"/>
          </p:cNvPicPr>
          <p:nvPr/>
        </p:nvPicPr>
        <p:blipFill>
          <a:blip r:embed="rId4"/>
          <a:stretch>
            <a:fillRect/>
          </a:stretch>
        </p:blipFill>
        <p:spPr>
          <a:xfrm>
            <a:off x="3349447" y="1799539"/>
            <a:ext cx="332842" cy="332842"/>
          </a:xfrm>
          <a:prstGeom prst="rect">
            <a:avLst/>
          </a:prstGeom>
        </p:spPr>
      </p:pic>
      <p:sp>
        <p:nvSpPr>
          <p:cNvPr id="13" name="Text 9"/>
          <p:cNvSpPr txBox="1"/>
          <p:nvPr/>
        </p:nvSpPr>
        <p:spPr>
          <a:xfrm>
            <a:off x="2688336" y="2359152"/>
            <a:ext cx="1655064" cy="457200"/>
          </a:xfrm>
          <a:prstGeom prst="rect">
            <a:avLst/>
          </a:prstGeom>
          <a:noFill/>
          <a:ln/>
        </p:spPr>
        <p:txBody>
          <a:bodyPr wrap="square" lIns="0" tIns="0" rIns="0" bIns="0" rtlCol="0" anchor="t"/>
          <a:lstStyle/>
          <a:p>
            <a:pPr marL="0" indent="0" algn="ctr">
              <a:buNone/>
            </a:pPr>
            <a:r>
              <a:rPr lang="en-US" sz="1350" b="1" dirty="0">
                <a:solidFill>
                  <a:schemeClr val="tx2"/>
                </a:solidFill>
                <a:latin typeface="Calibri" pitchFamily="34" charset="0"/>
                <a:ea typeface="Calibri" pitchFamily="34" charset="-122"/>
                <a:cs typeface="Calibri" pitchFamily="34" charset="-120"/>
              </a:rPr>
              <a:t>Medios autonómicos</a:t>
            </a:r>
            <a:endParaRPr lang="en-US" sz="1350" dirty="0"/>
          </a:p>
        </p:txBody>
      </p:sp>
      <p:sp>
        <p:nvSpPr>
          <p:cNvPr id="14" name="Text 10"/>
          <p:cNvSpPr txBox="1"/>
          <p:nvPr/>
        </p:nvSpPr>
        <p:spPr>
          <a:xfrm>
            <a:off x="2688336" y="2834640"/>
            <a:ext cx="1655064" cy="640080"/>
          </a:xfrm>
          <a:prstGeom prst="rect">
            <a:avLst/>
          </a:prstGeom>
          <a:noFill/>
          <a:ln/>
        </p:spPr>
        <p:txBody>
          <a:bodyPr wrap="square" lIns="0" tIns="0" rIns="0" bIns="0" rtlCol="0" anchor="t"/>
          <a:lstStyle/>
          <a:p>
            <a:pPr marL="0" indent="0" algn="ctr">
              <a:buNone/>
            </a:pPr>
            <a:r>
              <a:rPr lang="en-US" sz="1100" dirty="0">
                <a:solidFill>
                  <a:schemeClr val="accent5"/>
                </a:solidFill>
                <a:latin typeface="Calibri" pitchFamily="34" charset="0"/>
                <a:ea typeface="Calibri" pitchFamily="34" charset="-122"/>
                <a:cs typeface="Calibri" pitchFamily="34" charset="-120"/>
              </a:rPr>
              <a:t>Gobierno de Canarias</a:t>
            </a:r>
            <a:endParaRPr lang="en-US" sz="1100" dirty="0"/>
          </a:p>
        </p:txBody>
      </p:sp>
      <p:sp>
        <p:nvSpPr>
          <p:cNvPr id="15" name="flecha-2"/>
          <p:cNvSpPr/>
          <p:nvPr/>
        </p:nvSpPr>
        <p:spPr>
          <a:xfrm>
            <a:off x="4489704" y="2331720"/>
            <a:ext cx="173736" cy="274320"/>
          </a:xfrm>
          <a:prstGeom prst="chevron">
            <a:avLst/>
          </a:prstGeom>
          <a:solidFill>
            <a:schemeClr val="accent1"/>
          </a:solidFill>
          <a:ln w="12700">
            <a:solidFill>
              <a:schemeClr val="accent1"/>
            </a:solidFill>
            <a:prstDash val="solid"/>
          </a:ln>
        </p:spPr>
      </p:sp>
      <p:sp>
        <p:nvSpPr>
          <p:cNvPr id="16" name="paso-3"/>
          <p:cNvSpPr/>
          <p:nvPr/>
        </p:nvSpPr>
        <p:spPr>
          <a:xfrm>
            <a:off x="4700016" y="1463040"/>
            <a:ext cx="1874520" cy="1965960"/>
          </a:xfrm>
          <a:prstGeom prst="roundRect">
            <a:avLst>
              <a:gd name="adj" fmla="val 3902"/>
            </a:avLst>
          </a:prstGeom>
          <a:solidFill>
            <a:schemeClr val="bg2"/>
          </a:solidFill>
          <a:ln w="12700">
            <a:solidFill>
              <a:schemeClr val="bg2"/>
            </a:solidFill>
            <a:prstDash val="solid"/>
          </a:ln>
        </p:spPr>
      </p:sp>
      <p:sp>
        <p:nvSpPr>
          <p:cNvPr id="17" name="circulo-FaFileContract"/>
          <p:cNvSpPr/>
          <p:nvPr/>
        </p:nvSpPr>
        <p:spPr>
          <a:xfrm>
            <a:off x="5317236" y="1645920"/>
            <a:ext cx="640080" cy="640080"/>
          </a:xfrm>
          <a:prstGeom prst="ellipse">
            <a:avLst/>
          </a:prstGeom>
          <a:solidFill>
            <a:schemeClr val="accent1"/>
          </a:solidFill>
          <a:ln w="12700">
            <a:solidFill>
              <a:schemeClr val="accent1"/>
            </a:solidFill>
            <a:prstDash val="solid"/>
          </a:ln>
        </p:spPr>
      </p:sp>
      <p:pic>
        <p:nvPicPr>
          <p:cNvPr id="18" name="icono-FaFileContract" descr="preencoded.png"/>
          <p:cNvPicPr>
            <a:picLocks noChangeAspect="1"/>
          </p:cNvPicPr>
          <p:nvPr/>
        </p:nvPicPr>
        <p:blipFill>
          <a:blip r:embed="rId5"/>
          <a:stretch>
            <a:fillRect/>
          </a:stretch>
        </p:blipFill>
        <p:spPr>
          <a:xfrm>
            <a:off x="5470855" y="1799539"/>
            <a:ext cx="332842" cy="332842"/>
          </a:xfrm>
          <a:prstGeom prst="rect">
            <a:avLst/>
          </a:prstGeom>
        </p:spPr>
      </p:pic>
      <p:sp>
        <p:nvSpPr>
          <p:cNvPr id="19" name="Text 14"/>
          <p:cNvSpPr txBox="1"/>
          <p:nvPr/>
        </p:nvSpPr>
        <p:spPr>
          <a:xfrm>
            <a:off x="4809744" y="2359152"/>
            <a:ext cx="1655064" cy="457200"/>
          </a:xfrm>
          <a:prstGeom prst="rect">
            <a:avLst/>
          </a:prstGeom>
          <a:noFill/>
          <a:ln/>
        </p:spPr>
        <p:txBody>
          <a:bodyPr wrap="square" lIns="0" tIns="0" rIns="0" bIns="0" rtlCol="0" anchor="t"/>
          <a:lstStyle/>
          <a:p>
            <a:pPr marL="0" indent="0" algn="ctr">
              <a:buNone/>
            </a:pPr>
            <a:r>
              <a:rPr lang="en-US" sz="1350" b="1" dirty="0">
                <a:solidFill>
                  <a:schemeClr val="tx2"/>
                </a:solidFill>
                <a:latin typeface="Calibri" pitchFamily="34" charset="0"/>
                <a:ea typeface="Calibri" pitchFamily="34" charset="-122"/>
                <a:cs typeface="Calibri" pitchFamily="34" charset="-120"/>
              </a:rPr>
              <a:t>Medios privados</a:t>
            </a:r>
            <a:endParaRPr lang="en-US" sz="1350" dirty="0"/>
          </a:p>
        </p:txBody>
      </p:sp>
      <p:sp>
        <p:nvSpPr>
          <p:cNvPr id="20" name="Text 15"/>
          <p:cNvSpPr txBox="1"/>
          <p:nvPr/>
        </p:nvSpPr>
        <p:spPr>
          <a:xfrm>
            <a:off x="4809744" y="2766060"/>
            <a:ext cx="1655064" cy="502920"/>
          </a:xfrm>
          <a:prstGeom prst="rect">
            <a:avLst/>
          </a:prstGeom>
          <a:noFill/>
          <a:ln/>
        </p:spPr>
        <p:txBody>
          <a:bodyPr wrap="square" lIns="0" tIns="0" rIns="0" bIns="0" rtlCol="0" anchor="t"/>
          <a:lstStyle/>
          <a:p>
            <a:pPr marL="0" indent="0" algn="ctr">
              <a:buNone/>
            </a:pPr>
            <a:r>
              <a:rPr lang="en-US" sz="1100" dirty="0" err="1">
                <a:solidFill>
                  <a:schemeClr val="accent5"/>
                </a:solidFill>
                <a:latin typeface="Calibri" pitchFamily="34" charset="0"/>
                <a:ea typeface="Calibri" pitchFamily="34" charset="-122"/>
                <a:cs typeface="Calibri" pitchFamily="34" charset="-120"/>
              </a:rPr>
              <a:t>Contratación</a:t>
            </a:r>
            <a:r>
              <a:rPr lang="en-US" sz="1100" dirty="0">
                <a:solidFill>
                  <a:schemeClr val="accent5"/>
                </a:solidFill>
                <a:latin typeface="Calibri" pitchFamily="34" charset="0"/>
                <a:ea typeface="Calibri" pitchFamily="34" charset="-122"/>
                <a:cs typeface="Calibri" pitchFamily="34" charset="-120"/>
              </a:rPr>
              <a:t> pública o </a:t>
            </a:r>
            <a:r>
              <a:rPr lang="en-US" sz="1100" dirty="0" err="1">
                <a:solidFill>
                  <a:schemeClr val="accent5"/>
                </a:solidFill>
                <a:latin typeface="Calibri" pitchFamily="34" charset="0"/>
                <a:ea typeface="Calibri" pitchFamily="34" charset="-122"/>
                <a:cs typeface="Calibri" pitchFamily="34" charset="-120"/>
              </a:rPr>
              <a:t>disponibilidad</a:t>
            </a:r>
            <a:r>
              <a:rPr lang="en-US" sz="1100" dirty="0">
                <a:solidFill>
                  <a:schemeClr val="accent5"/>
                </a:solidFill>
                <a:latin typeface="Calibri" pitchFamily="34" charset="0"/>
                <a:ea typeface="Calibri" pitchFamily="34" charset="-122"/>
                <a:cs typeface="Calibri" pitchFamily="34" charset="-120"/>
              </a:rPr>
              <a:t> </a:t>
            </a:r>
            <a:r>
              <a:rPr lang="en-US" sz="1100" dirty="0" err="1">
                <a:solidFill>
                  <a:schemeClr val="accent5"/>
                </a:solidFill>
                <a:latin typeface="Calibri" pitchFamily="34" charset="0"/>
                <a:ea typeface="Calibri" pitchFamily="34" charset="-122"/>
                <a:cs typeface="Calibri" pitchFamily="34" charset="-120"/>
              </a:rPr>
              <a:t>voluntaria</a:t>
            </a:r>
            <a:endParaRPr lang="en-US" sz="1100" dirty="0"/>
          </a:p>
        </p:txBody>
      </p:sp>
      <p:sp>
        <p:nvSpPr>
          <p:cNvPr id="21" name="flecha-3"/>
          <p:cNvSpPr/>
          <p:nvPr/>
        </p:nvSpPr>
        <p:spPr>
          <a:xfrm>
            <a:off x="6611112" y="2331720"/>
            <a:ext cx="173736" cy="274320"/>
          </a:xfrm>
          <a:prstGeom prst="chevron">
            <a:avLst/>
          </a:prstGeom>
          <a:solidFill>
            <a:schemeClr val="accent1"/>
          </a:solidFill>
          <a:ln w="12700">
            <a:solidFill>
              <a:schemeClr val="accent1"/>
            </a:solidFill>
            <a:prstDash val="solid"/>
          </a:ln>
        </p:spPr>
      </p:sp>
      <p:sp>
        <p:nvSpPr>
          <p:cNvPr id="22" name="paso-4"/>
          <p:cNvSpPr/>
          <p:nvPr/>
        </p:nvSpPr>
        <p:spPr>
          <a:xfrm>
            <a:off x="6821424" y="1463040"/>
            <a:ext cx="1874520" cy="1965960"/>
          </a:xfrm>
          <a:prstGeom prst="roundRect">
            <a:avLst>
              <a:gd name="adj" fmla="val 3902"/>
            </a:avLst>
          </a:prstGeom>
          <a:solidFill>
            <a:schemeClr val="bg2"/>
          </a:solidFill>
          <a:ln w="12700">
            <a:solidFill>
              <a:schemeClr val="bg2"/>
            </a:solidFill>
            <a:prstDash val="solid"/>
          </a:ln>
        </p:spPr>
      </p:sp>
      <p:sp>
        <p:nvSpPr>
          <p:cNvPr id="23" name="circulo-FaHandshake"/>
          <p:cNvSpPr/>
          <p:nvPr/>
        </p:nvSpPr>
        <p:spPr>
          <a:xfrm>
            <a:off x="7438644" y="1645920"/>
            <a:ext cx="640080" cy="640080"/>
          </a:xfrm>
          <a:prstGeom prst="ellipse">
            <a:avLst/>
          </a:prstGeom>
          <a:solidFill>
            <a:schemeClr val="accent3"/>
          </a:solidFill>
          <a:ln w="12700">
            <a:solidFill>
              <a:schemeClr val="accent3"/>
            </a:solidFill>
            <a:prstDash val="solid"/>
          </a:ln>
        </p:spPr>
      </p:sp>
      <p:pic>
        <p:nvPicPr>
          <p:cNvPr id="24" name="icono-FaHandshake" descr="preencoded.png"/>
          <p:cNvPicPr>
            <a:picLocks noChangeAspect="1"/>
          </p:cNvPicPr>
          <p:nvPr/>
        </p:nvPicPr>
        <p:blipFill>
          <a:blip r:embed="rId6"/>
          <a:stretch>
            <a:fillRect/>
          </a:stretch>
        </p:blipFill>
        <p:spPr>
          <a:xfrm>
            <a:off x="7592263" y="1799539"/>
            <a:ext cx="332842" cy="332842"/>
          </a:xfrm>
          <a:prstGeom prst="rect">
            <a:avLst/>
          </a:prstGeom>
        </p:spPr>
      </p:pic>
      <p:sp>
        <p:nvSpPr>
          <p:cNvPr id="25" name="Text 19"/>
          <p:cNvSpPr txBox="1"/>
          <p:nvPr/>
        </p:nvSpPr>
        <p:spPr>
          <a:xfrm>
            <a:off x="6931152" y="2359152"/>
            <a:ext cx="1655064" cy="457200"/>
          </a:xfrm>
          <a:prstGeom prst="rect">
            <a:avLst/>
          </a:prstGeom>
          <a:noFill/>
          <a:ln/>
        </p:spPr>
        <p:txBody>
          <a:bodyPr wrap="square" lIns="0" tIns="0" rIns="0" bIns="0" rtlCol="0" anchor="t"/>
          <a:lstStyle/>
          <a:p>
            <a:pPr marL="0" indent="0" algn="ctr">
              <a:buNone/>
            </a:pPr>
            <a:r>
              <a:rPr lang="en-US" sz="1350" b="1" dirty="0">
                <a:solidFill>
                  <a:schemeClr val="tx2"/>
                </a:solidFill>
                <a:latin typeface="Calibri" pitchFamily="34" charset="0"/>
                <a:ea typeface="Calibri" pitchFamily="34" charset="-122"/>
                <a:cs typeface="Calibri" pitchFamily="34" charset="-120"/>
              </a:rPr>
              <a:t>Convenios</a:t>
            </a:r>
            <a:endParaRPr lang="en-US" sz="1350" dirty="0"/>
          </a:p>
        </p:txBody>
      </p:sp>
      <p:sp>
        <p:nvSpPr>
          <p:cNvPr id="26" name="Text 20"/>
          <p:cNvSpPr txBox="1"/>
          <p:nvPr/>
        </p:nvSpPr>
        <p:spPr>
          <a:xfrm>
            <a:off x="6931152" y="2758065"/>
            <a:ext cx="1655064" cy="640080"/>
          </a:xfrm>
          <a:prstGeom prst="rect">
            <a:avLst/>
          </a:prstGeom>
          <a:noFill/>
          <a:ln/>
        </p:spPr>
        <p:txBody>
          <a:bodyPr wrap="square" lIns="0" tIns="0" rIns="0" bIns="0" rtlCol="0" anchor="t"/>
          <a:lstStyle/>
          <a:p>
            <a:pPr marL="0" indent="0" algn="ctr">
              <a:buNone/>
            </a:pPr>
            <a:r>
              <a:rPr lang="en-US" sz="1100" dirty="0">
                <a:solidFill>
                  <a:schemeClr val="accent5"/>
                </a:solidFill>
                <a:latin typeface="Calibri" pitchFamily="34" charset="0"/>
                <a:ea typeface="Calibri" pitchFamily="34" charset="-122"/>
                <a:cs typeface="Calibri" pitchFamily="34" charset="-120"/>
              </a:rPr>
              <a:t>Organizaciones y profesionales de emergencia animal</a:t>
            </a:r>
            <a:endParaRPr lang="en-US" sz="1100" dirty="0"/>
          </a:p>
        </p:txBody>
      </p:sp>
      <p:sp>
        <p:nvSpPr>
          <p:cNvPr id="27" name="ejemplo"/>
          <p:cNvSpPr/>
          <p:nvPr/>
        </p:nvSpPr>
        <p:spPr>
          <a:xfrm>
            <a:off x="457200" y="3657600"/>
            <a:ext cx="8229600" cy="960120"/>
          </a:xfrm>
          <a:prstGeom prst="roundRect">
            <a:avLst>
              <a:gd name="adj" fmla="val 7619"/>
            </a:avLst>
          </a:prstGeom>
          <a:solidFill>
            <a:schemeClr val="tx2"/>
          </a:solidFill>
          <a:ln w="12700">
            <a:solidFill>
              <a:schemeClr val="tx2"/>
            </a:solidFill>
            <a:prstDash val="solid"/>
          </a:ln>
        </p:spPr>
      </p:sp>
      <p:sp>
        <p:nvSpPr>
          <p:cNvPr id="28" name="Text 22"/>
          <p:cNvSpPr txBox="1"/>
          <p:nvPr/>
        </p:nvSpPr>
        <p:spPr>
          <a:xfrm>
            <a:off x="640080" y="3703320"/>
            <a:ext cx="7863840" cy="86868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En Guía de Isora: </a:t>
            </a:r>
            <a:r>
              <a:rPr lang="en-US" sz="1200" dirty="0">
                <a:solidFill>
                  <a:schemeClr val="bg1"/>
                </a:solidFill>
                <a:latin typeface="Calibri" pitchFamily="34" charset="0"/>
                <a:ea typeface="Calibri" pitchFamily="34" charset="-122"/>
                <a:cs typeface="Calibri" pitchFamily="34" charset="-120"/>
              </a:rPr>
              <a:t>el Grupo de Logística cuenta con los medios propios del Ayuntamiento y los privados del Catálogo del PEMU (apdo. 4.6.1). El convenio con La Traílla y la colaboración con Salva Misio Isora son la vía de los convenios. Si la emergencia lo supera, la Dirección pide medios a otras administraciones o empresas.</a:t>
            </a:r>
            <a:endParaRPr lang="en-US" sz="1200" dirty="0"/>
          </a:p>
        </p:txBody>
      </p:sp>
      <p:sp>
        <p:nvSpPr>
          <p:cNvPr id="29"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400" b="1" dirty="0">
                <a:solidFill>
                  <a:schemeClr val="bg1"/>
                </a:solidFill>
                <a:latin typeface="Cambria" pitchFamily="34" charset="0"/>
                <a:ea typeface="Cambria" pitchFamily="34" charset="-122"/>
                <a:cs typeface="Cambria" pitchFamily="34" charset="-120"/>
              </a:rPr>
              <a:t>Lista de comprobación del catálogo antes del naranja</a:t>
            </a:r>
            <a:endParaRPr lang="en-US" sz="2400" dirty="0"/>
          </a:p>
        </p:txBody>
      </p:sp>
      <p:pic>
        <p:nvPicPr>
          <p:cNvPr id="3" name="check-1" descr="preencoded.png"/>
          <p:cNvPicPr>
            <a:picLocks noChangeAspect="1"/>
          </p:cNvPicPr>
          <p:nvPr/>
        </p:nvPicPr>
        <p:blipFill>
          <a:blip r:embed="rId3"/>
          <a:stretch>
            <a:fillRect/>
          </a:stretch>
        </p:blipFill>
        <p:spPr>
          <a:xfrm>
            <a:off x="457200" y="1088136"/>
            <a:ext cx="292608" cy="292608"/>
          </a:xfrm>
          <a:prstGeom prst="rect">
            <a:avLst/>
          </a:prstGeom>
        </p:spPr>
      </p:pic>
      <p:sp>
        <p:nvSpPr>
          <p:cNvPr id="4" name="Text 1"/>
          <p:cNvSpPr txBox="1"/>
          <p:nvPr/>
        </p:nvSpPr>
        <p:spPr>
          <a:xfrm>
            <a:off x="868680" y="1051560"/>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Censos actualizados: explotaciones, mascotas e identificación animal</a:t>
            </a:r>
            <a:endParaRPr lang="en-US" sz="1300" dirty="0"/>
          </a:p>
        </p:txBody>
      </p:sp>
      <p:pic>
        <p:nvPicPr>
          <p:cNvPr id="5" name="check-2" descr="preencoded.png"/>
          <p:cNvPicPr>
            <a:picLocks noChangeAspect="1"/>
          </p:cNvPicPr>
          <p:nvPr/>
        </p:nvPicPr>
        <p:blipFill>
          <a:blip r:embed="rId3"/>
          <a:stretch>
            <a:fillRect/>
          </a:stretch>
        </p:blipFill>
        <p:spPr>
          <a:xfrm>
            <a:off x="457200" y="1655064"/>
            <a:ext cx="292608" cy="292608"/>
          </a:xfrm>
          <a:prstGeom prst="rect">
            <a:avLst/>
          </a:prstGeom>
        </p:spPr>
      </p:pic>
      <p:sp>
        <p:nvSpPr>
          <p:cNvPr id="6" name="Text 2"/>
          <p:cNvSpPr txBox="1"/>
          <p:nvPr/>
        </p:nvSpPr>
        <p:spPr>
          <a:xfrm>
            <a:off x="868680" y="1618488"/>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Plan de evacuación de cada explotación ganadera</a:t>
            </a:r>
            <a:endParaRPr lang="en-US" sz="1300" dirty="0"/>
          </a:p>
        </p:txBody>
      </p:sp>
      <p:pic>
        <p:nvPicPr>
          <p:cNvPr id="7" name="check-3" descr="preencoded.png"/>
          <p:cNvPicPr>
            <a:picLocks noChangeAspect="1"/>
          </p:cNvPicPr>
          <p:nvPr/>
        </p:nvPicPr>
        <p:blipFill>
          <a:blip r:embed="rId3"/>
          <a:stretch>
            <a:fillRect/>
          </a:stretch>
        </p:blipFill>
        <p:spPr>
          <a:xfrm>
            <a:off x="457200" y="2221992"/>
            <a:ext cx="292608" cy="292608"/>
          </a:xfrm>
          <a:prstGeom prst="rect">
            <a:avLst/>
          </a:prstGeom>
        </p:spPr>
      </p:pic>
      <p:sp>
        <p:nvSpPr>
          <p:cNvPr id="8" name="Text 3"/>
          <p:cNvSpPr txBox="1"/>
          <p:nvPr/>
        </p:nvSpPr>
        <p:spPr>
          <a:xfrm>
            <a:off x="868680" y="2185416"/>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Inventario de quienes no pueden evacuar por sus medios</a:t>
            </a:r>
            <a:endParaRPr lang="en-US" sz="1300" dirty="0"/>
          </a:p>
        </p:txBody>
      </p:sp>
      <p:pic>
        <p:nvPicPr>
          <p:cNvPr id="9" name="check-4" descr="preencoded.png"/>
          <p:cNvPicPr>
            <a:picLocks noChangeAspect="1"/>
          </p:cNvPicPr>
          <p:nvPr/>
        </p:nvPicPr>
        <p:blipFill>
          <a:blip r:embed="rId3"/>
          <a:stretch>
            <a:fillRect/>
          </a:stretch>
        </p:blipFill>
        <p:spPr>
          <a:xfrm>
            <a:off x="457200" y="2788920"/>
            <a:ext cx="292608" cy="292608"/>
          </a:xfrm>
          <a:prstGeom prst="rect">
            <a:avLst/>
          </a:prstGeom>
        </p:spPr>
      </p:pic>
      <p:sp>
        <p:nvSpPr>
          <p:cNvPr id="10" name="Text 4"/>
          <p:cNvSpPr txBox="1"/>
          <p:nvPr/>
        </p:nvSpPr>
        <p:spPr>
          <a:xfrm>
            <a:off x="868680" y="2752344"/>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Listado de vehículos para animales con contacto 24 h</a:t>
            </a:r>
            <a:endParaRPr lang="en-US" sz="1300" dirty="0"/>
          </a:p>
        </p:txBody>
      </p:sp>
      <p:pic>
        <p:nvPicPr>
          <p:cNvPr id="11" name="check-5" descr="preencoded.png"/>
          <p:cNvPicPr>
            <a:picLocks noChangeAspect="1"/>
          </p:cNvPicPr>
          <p:nvPr/>
        </p:nvPicPr>
        <p:blipFill>
          <a:blip r:embed="rId3"/>
          <a:stretch>
            <a:fillRect/>
          </a:stretch>
        </p:blipFill>
        <p:spPr>
          <a:xfrm>
            <a:off x="457200" y="3355848"/>
            <a:ext cx="292608" cy="292608"/>
          </a:xfrm>
          <a:prstGeom prst="rect">
            <a:avLst/>
          </a:prstGeom>
        </p:spPr>
      </p:pic>
      <p:sp>
        <p:nvSpPr>
          <p:cNvPr id="12" name="Text 5"/>
          <p:cNvSpPr txBox="1"/>
          <p:nvPr/>
        </p:nvSpPr>
        <p:spPr>
          <a:xfrm>
            <a:off x="868680" y="3319272"/>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Centros de protección animal con plazas por especie</a:t>
            </a:r>
            <a:endParaRPr lang="en-US" sz="1300" dirty="0"/>
          </a:p>
        </p:txBody>
      </p:sp>
      <p:pic>
        <p:nvPicPr>
          <p:cNvPr id="13" name="check-6" descr="preencoded.png"/>
          <p:cNvPicPr>
            <a:picLocks noChangeAspect="1"/>
          </p:cNvPicPr>
          <p:nvPr/>
        </p:nvPicPr>
        <p:blipFill>
          <a:blip r:embed="rId3"/>
          <a:stretch>
            <a:fillRect/>
          </a:stretch>
        </p:blipFill>
        <p:spPr>
          <a:xfrm>
            <a:off x="4663440" y="1088136"/>
            <a:ext cx="292608" cy="292608"/>
          </a:xfrm>
          <a:prstGeom prst="rect">
            <a:avLst/>
          </a:prstGeom>
        </p:spPr>
      </p:pic>
      <p:sp>
        <p:nvSpPr>
          <p:cNvPr id="14" name="Text 6"/>
          <p:cNvSpPr txBox="1"/>
          <p:nvPr/>
        </p:nvSpPr>
        <p:spPr>
          <a:xfrm>
            <a:off x="5074920" y="1051560"/>
            <a:ext cx="2834865"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Zona habilitada para ganado. </a:t>
            </a:r>
            <a:endParaRPr lang="en-US" sz="1300" dirty="0"/>
          </a:p>
        </p:txBody>
      </p:sp>
      <p:pic>
        <p:nvPicPr>
          <p:cNvPr id="15" name="check-7" descr="preencoded.png"/>
          <p:cNvPicPr>
            <a:picLocks noChangeAspect="1"/>
          </p:cNvPicPr>
          <p:nvPr/>
        </p:nvPicPr>
        <p:blipFill>
          <a:blip r:embed="rId3"/>
          <a:stretch>
            <a:fillRect/>
          </a:stretch>
        </p:blipFill>
        <p:spPr>
          <a:xfrm>
            <a:off x="4663440" y="1655064"/>
            <a:ext cx="292608" cy="292608"/>
          </a:xfrm>
          <a:prstGeom prst="rect">
            <a:avLst/>
          </a:prstGeom>
        </p:spPr>
      </p:pic>
      <p:sp>
        <p:nvSpPr>
          <p:cNvPr id="16" name="Text 7"/>
          <p:cNvSpPr txBox="1"/>
          <p:nvPr/>
        </p:nvSpPr>
        <p:spPr>
          <a:xfrm>
            <a:off x="5074920" y="1618488"/>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Listado de voluntariado y familias de acogida</a:t>
            </a:r>
            <a:endParaRPr lang="en-US" sz="1300" dirty="0"/>
          </a:p>
        </p:txBody>
      </p:sp>
      <p:pic>
        <p:nvPicPr>
          <p:cNvPr id="17" name="check-8" descr="preencoded.png"/>
          <p:cNvPicPr>
            <a:picLocks noChangeAspect="1"/>
          </p:cNvPicPr>
          <p:nvPr/>
        </p:nvPicPr>
        <p:blipFill>
          <a:blip r:embed="rId3"/>
          <a:stretch>
            <a:fillRect/>
          </a:stretch>
        </p:blipFill>
        <p:spPr>
          <a:xfrm>
            <a:off x="4663440" y="2221992"/>
            <a:ext cx="292608" cy="292608"/>
          </a:xfrm>
          <a:prstGeom prst="rect">
            <a:avLst/>
          </a:prstGeom>
        </p:spPr>
      </p:pic>
      <p:sp>
        <p:nvSpPr>
          <p:cNvPr id="18" name="Text 8"/>
          <p:cNvSpPr txBox="1"/>
          <p:nvPr/>
        </p:nvSpPr>
        <p:spPr>
          <a:xfrm>
            <a:off x="5074920" y="2185416"/>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Material, EPI y equipos de captura localizados</a:t>
            </a:r>
            <a:endParaRPr lang="en-US" sz="1300" dirty="0"/>
          </a:p>
        </p:txBody>
      </p:sp>
      <p:pic>
        <p:nvPicPr>
          <p:cNvPr id="19" name="check-9" descr="preencoded.png"/>
          <p:cNvPicPr>
            <a:picLocks noChangeAspect="1"/>
          </p:cNvPicPr>
          <p:nvPr/>
        </p:nvPicPr>
        <p:blipFill>
          <a:blip r:embed="rId3"/>
          <a:stretch>
            <a:fillRect/>
          </a:stretch>
        </p:blipFill>
        <p:spPr>
          <a:xfrm>
            <a:off x="4663440" y="2788920"/>
            <a:ext cx="292608" cy="292608"/>
          </a:xfrm>
          <a:prstGeom prst="rect">
            <a:avLst/>
          </a:prstGeom>
        </p:spPr>
      </p:pic>
      <p:sp>
        <p:nvSpPr>
          <p:cNvPr id="20" name="Text 9"/>
          <p:cNvSpPr txBox="1"/>
          <p:nvPr/>
        </p:nvSpPr>
        <p:spPr>
          <a:xfrm>
            <a:off x="5074920" y="2752344"/>
            <a:ext cx="3611880" cy="384048"/>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Convenios firmados y previsión presupuestaria</a:t>
            </a:r>
            <a:endParaRPr lang="en-US" sz="1300" dirty="0"/>
          </a:p>
        </p:txBody>
      </p:sp>
      <p:sp>
        <p:nvSpPr>
          <p:cNvPr id="21" name="Text 10"/>
          <p:cNvSpPr txBox="1"/>
          <p:nvPr/>
        </p:nvSpPr>
        <p:spPr>
          <a:xfrm>
            <a:off x="4663440" y="3977640"/>
            <a:ext cx="4023360" cy="640080"/>
          </a:xfrm>
          <a:prstGeom prst="rect">
            <a:avLst/>
          </a:prstGeom>
          <a:noFill/>
          <a:ln/>
        </p:spPr>
        <p:txBody>
          <a:bodyPr wrap="square" lIns="0" tIns="0" rIns="0" bIns="0" rtlCol="0" anchor="ctr"/>
          <a:lstStyle/>
          <a:p>
            <a:pPr marL="0" indent="0">
              <a:buNone/>
            </a:pPr>
            <a:r>
              <a:rPr lang="en-US" sz="1500" b="1" i="1" dirty="0">
                <a:solidFill>
                  <a:schemeClr val="accent1"/>
                </a:solidFill>
                <a:latin typeface="Cambria" pitchFamily="34" charset="0"/>
                <a:ea typeface="Cambria" pitchFamily="34" charset="-122"/>
                <a:cs typeface="Cambria" pitchFamily="34" charset="-120"/>
              </a:rPr>
              <a:t>En semáforo naranja no se busca: se activa lo que ya está en el catálogo.</a:t>
            </a:r>
            <a:endParaRPr lang="en-US" sz="1500" dirty="0"/>
          </a:p>
        </p:txBody>
      </p:sp>
    </p:spTree>
  </p:cSld>
  <p:clrMapOvr>
    <a:masterClrMapping/>
  </p:clrMapOvr>
</p:sld>
</file>

<file path=ppt/theme/theme1.xml><?xml version="1.0" encoding="utf-8"?>
<a:theme xmlns:a="http://schemas.openxmlformats.org/drawingml/2006/main" name="Animales Emergencia Volcanica">
  <a:themeElements>
    <a:clrScheme name="Animales Emergencia Volcanica">
      <a:dk1>
        <a:srgbClr val="1C2621"/>
      </a:dk1>
      <a:lt1>
        <a:srgbClr val="FFFFFF"/>
      </a:lt1>
      <a:dk2>
        <a:srgbClr val="1F3A2E"/>
      </a:dk2>
      <a:lt2>
        <a:srgbClr val="EEF3EF"/>
      </a:lt2>
      <a:accent1>
        <a:srgbClr val="D9661C"/>
      </a:accent1>
      <a:accent2>
        <a:srgbClr val="2F6B4F"/>
      </a:accent2>
      <a:accent3>
        <a:srgbClr val="A8402B"/>
      </a:accent3>
      <a:accent4>
        <a:srgbClr val="C99A2E"/>
      </a:accent4>
      <a:accent5>
        <a:srgbClr val="4F6B76"/>
      </a:accent5>
      <a:accent6>
        <a:srgbClr val="88A596"/>
      </a:accent6>
      <a:hlink>
        <a:srgbClr val="2F6B4F"/>
      </a:hlink>
      <a:folHlink>
        <a:srgbClr val="4F6B76"/>
      </a:folHlink>
    </a:clrScheme>
    <a:fontScheme name="Animales Emergencia Volcanic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2329</Words>
  <Application>Microsoft Macintosh PowerPoint</Application>
  <PresentationFormat>Presentación en pantalla (16:9)</PresentationFormat>
  <Paragraphs>177</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Animales Emergencia Volcanica</vt:lpstr>
      <vt:lpstr>Catálogo de medios y recursos para evacuar animales</vt:lpstr>
      <vt:lpstr>Qué debe contener el catálogo según el Decreto 195/2022</vt:lpstr>
      <vt:lpstr>Antes del naranja: saber qué animales hay y dónde</vt:lpstr>
      <vt:lpstr>Medios humanos: la Unidad de Evacuación de Animales</vt:lpstr>
      <vt:lpstr>Medios de transporte: quién mueve a cada animal</vt:lpstr>
      <vt:lpstr>Lugares de albergue: los centros de protección animal</vt:lpstr>
      <vt:lpstr>Guía de Isora: ¿cubrimos un naranja en Chirche y Aripe?</vt:lpstr>
      <vt:lpstr>Material: albergue, abastecimiento, sanitario y auxiliar</vt:lpstr>
      <vt:lpstr>Cómo se movilizan los medios</vt:lpstr>
      <vt:lpstr>Lista de comprobación del catálogo antes del naranja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Catálogo de medios y recursos para evacuar animales</dc:title>
  <dc:subject>PptxGenJS Presentation</dc:subject>
  <dc:creator>Ayuntamiento de Guía de Isora</dc:creator>
  <cp:lastModifiedBy>Microsoft Office User</cp:lastModifiedBy>
  <cp:revision>2</cp:revision>
  <dcterms:created xsi:type="dcterms:W3CDTF">2026-10-19T18:04:11Z</dcterms:created>
  <dcterms:modified xsi:type="dcterms:W3CDTF">2026-10-19T18:19:08Z</dcterms:modified>
</cp:coreProperties>
</file>