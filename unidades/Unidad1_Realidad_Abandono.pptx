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1 · NADIE NACE SABIENDO CUIDAR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1430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realidad del abandono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mitos que lo rodean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601200" y="1280160"/>
            <a:ext cx="1737360" cy="1737360"/>
          </a:xfrm>
          <a:prstGeom prst="ellipse">
            <a:avLst/>
          </a:prstGeom>
          <a:solidFill>
            <a:srgbClr val="DDF7E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0287" y="1749247"/>
            <a:ext cx="799186" cy="79918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3063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desmontar, con datos y con ley, lo que "todo el mundo dice" sobre el abandono animal.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TERMÓMETRO DE OPINIÓN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acuerdo o en desacuerdo?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abandono de animales es sobre todo un problema de verano, por las vacaciones."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520440"/>
            <a:ext cx="10515600" cy="457200"/>
          </a:xfrm>
          <a:prstGeom prst="roundRect">
            <a:avLst>
              <a:gd name="adj" fmla="val 50000"/>
            </a:avLst>
          </a:prstGeom>
          <a:ln/>
        </p:spPr>
      </p:sp>
      <p:sp>
        <p:nvSpPr>
          <p:cNvPr id="12" name="Text 10"/>
          <p:cNvSpPr txBox="1"/>
          <p:nvPr/>
        </p:nvSpPr>
        <p:spPr>
          <a:xfrm>
            <a:off x="82296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EN DESACUERDO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TOTALMENTE DE ACUERDO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Poneos de pie. Quien esté muy de acuerdo se mueve a la derecha del aula; quien esté muy en desacuerdo, a la izquierda. Sin hablar todavía.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68869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688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DATO QUE CAMBIA EL DEBATE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371600"/>
            <a:ext cx="121916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+285.000</a:t>
            </a:r>
            <a:endParaRPr lang="en-US" sz="100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3108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perros y gatos ingresan en centros de acogida cada año en España.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23848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(Fuente: Informe Abandono y Adopción, Fundación Affinity)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72488" y="4846320"/>
            <a:ext cx="8046720" cy="1234440"/>
          </a:xfrm>
          <a:prstGeom prst="roundRect">
            <a:avLst>
              <a:gd name="adj" fmla="val 13333"/>
            </a:avLst>
          </a:prstGeom>
          <a:solidFill>
            <a:srgbClr val="FFE3E6"/>
          </a:solidFill>
          <a:ln/>
        </p:spPr>
      </p:sp>
      <p:sp>
        <p:nvSpPr>
          <p:cNvPr id="11" name="Shape 9"/>
          <p:cNvSpPr/>
          <p:nvPr/>
        </p:nvSpPr>
        <p:spPr>
          <a:xfrm>
            <a:off x="2392528" y="516636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005" y="5326837"/>
            <a:ext cx="273406" cy="27340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261208" y="48463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esto es solo lo que se registra oficialmente. La cifra real probablemente es mayor.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40121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4012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 VS. REALIDAD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abandono no tiene temporada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257800" cy="3520440"/>
          </a:xfrm>
          <a:prstGeom prst="roundRect">
            <a:avLst>
              <a:gd name="adj" fmla="val 4675"/>
            </a:avLst>
          </a:prstGeom>
          <a:solidFill>
            <a:srgbClr val="FFE3E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194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0708" y="2284628"/>
            <a:ext cx="231343" cy="231343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68680" y="2788920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"Solo se abandona en julio, antes de irse de vacaciones a la playa."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1965960"/>
            <a:ext cx="5257800" cy="3520440"/>
          </a:xfrm>
          <a:prstGeom prst="roundRect">
            <a:avLst>
              <a:gd name="adj" fmla="val 4675"/>
            </a:avLst>
          </a:prstGeom>
          <a:solidFill>
            <a:srgbClr val="DDF7EE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0" y="2194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FB88A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0" y="2194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789920" y="21488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5708" y="2284628"/>
            <a:ext cx="231343" cy="23134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583680" y="2788920"/>
            <a:ext cx="4709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goteo constante los 365 días del año. El verano solo lo hace más visible en las noticias.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55768" y="822960"/>
            <a:ext cx="1280160" cy="1280160"/>
          </a:xfrm>
          <a:prstGeom prst="ellipse">
            <a:avLst/>
          </a:prstGeom>
          <a:solidFill>
            <a:srgbClr val="FFE3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1411" y="11686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2286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Entonces, ¿cuál es la causa número 1?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066648" y="2834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15% de los animales en la calle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llegan por camadas no deseadas.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2072488" y="4572000"/>
            <a:ext cx="8046720" cy="1005840"/>
          </a:xfrm>
          <a:prstGeom prst="roundRect">
            <a:avLst>
              <a:gd name="adj" fmla="val 16364"/>
            </a:avLst>
          </a:prstGeom>
          <a:solidFill>
            <a:srgbClr val="F1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346808" y="4572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que las vacaciones, más que las mudanzas: la principal causa de abandono es la falta de esterilización.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63530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635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"ADIÓS AL CAPRICHO"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nuevas reglas de adquisición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E3E6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22219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94814"/>
            <a:ext cx="294437" cy="29443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7724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Tiendas físicas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 la venta de perros, gatos y hurones. Se acabaron las compras impulsivas.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244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E3E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38472" y="22219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294" y="23948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6532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Cría casera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46532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ILEGAL si vendes o regalas camadas. Solo permitido a criadores inscritos oficialmente.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7970520" y="1965960"/>
            <a:ext cx="3505200" cy="3566160"/>
          </a:xfrm>
          <a:prstGeom prst="roundRect">
            <a:avLst>
              <a:gd name="adj" fmla="val 4696"/>
            </a:avLst>
          </a:prstGeom>
          <a:solidFill>
            <a:srgbClr val="FFE3E6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6552" y="222199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374" y="2394814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53400" y="3063240"/>
            <a:ext cx="313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Menores de edad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153400" y="365760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Prohibida la venta o donación de animales a menores de 18 años.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4976165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4976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 LOCAL · SAN CRISTÓBAL DE LA LAGUNA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ayuntamiento lo deja aún más claro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8998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32824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Prohibición explícita por edad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ordenanza municipal prohíbe vender o donar animales a menores de 18 años, sin excepción.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127248"/>
            <a:ext cx="108813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39699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53525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2369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tienda puede saltarse la norma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584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un menor tenga el dinero ahorrado, ninguna tienda puede legalmente entregarle un animal.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103474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1034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 CAMINO ES LEGAL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Criadores inscritos: la única cría permitida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189988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328245"/>
            <a:ext cx="235549" cy="23554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00200" y="2029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Oficial de Criadores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2377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quienes están inscritos pueden criar y vender animales legalmente, bajo control sanitario.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3127248"/>
            <a:ext cx="10881360" cy="1051560"/>
          </a:xfrm>
          <a:prstGeom prst="roundRect">
            <a:avLst>
              <a:gd name="adj" fmla="val 156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3396996"/>
            <a:ext cx="512064" cy="512064"/>
          </a:xfrm>
          <a:prstGeom prst="ellipse">
            <a:avLst/>
          </a:prstGeom>
          <a:solidFill>
            <a:srgbClr val="F1EC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535253"/>
            <a:ext cx="235549" cy="2355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0200" y="32369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 perra tuvo una camada"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00200" y="3584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particular vende o regala esos cachorros, está cometiendo una infracción — por bienintencionado que sea.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 RELÁMPAGO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falso, ¡mano alzada ya!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compro un cachorro a un particular por redes sociales, pero él no gana dinero con ello, no pasa nada."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663440"/>
            <a:ext cx="10881360" cy="1371600"/>
          </a:xfrm>
          <a:prstGeom prst="roundRect">
            <a:avLst>
              <a:gd name="adj" fmla="val 12000"/>
            </a:avLst>
          </a:prstGeom>
          <a:solidFill>
            <a:srgbClr val="FFF4D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663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Levantad la mano si creéis que es VERDADERO. Contamos y después revelamos la respuesta juntos.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EN EQUIPO · 8 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Caza-mitos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Repartidas por el aula hay tarjetas con frases. En equipos de 3-4, debéis clasificarlas.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 equipos y recoged un set de tarjetas de "mitos" repartidas por la clase.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13639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181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 cada tarjeta en dos montones: MITO o REALIDAD.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" y="38496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1ECFF"/>
          </a:solidFill>
          <a:ln w="16510">
            <a:solidFill>
              <a:srgbClr val="6C4C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3133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 una tarjeta que os haya sorprendido para compartir con el grupo.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" y="5806440"/>
            <a:ext cx="10881360" cy="685800"/>
          </a:xfrm>
          <a:prstGeom prst="roundRect">
            <a:avLst>
              <a:gd name="adj" fmla="val 24000"/>
            </a:avLst>
          </a:prstGeom>
          <a:solidFill>
            <a:srgbClr val="DDF7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806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El equipo con más aciertos elige el orden de intervención en la siguiente actividad de la unidad.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 · ¿LEGAL O ILEGAL?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vecino publica en Wallapop cachorros de su perra "pura raza", "primera camada, se venden rápido".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FFE3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ILEGAL.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cría y venta solo está permitida a criadores inscritos en el Registro Oficial. Un particular que vende cachorros comete una infracción, aunque su animal tenga pedigrí.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 · ¿LEGAL O ILEGAL?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¿Legal o ilegal?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de animales expone cachorros vivos en el escaparate para atraer clientes que pasean por el centro comercial.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5D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370332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FF5C6C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86200" y="3703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10881360" cy="1691640"/>
          </a:xfrm>
          <a:prstGeom prst="roundRect">
            <a:avLst>
              <a:gd name="adj" fmla="val 9730"/>
            </a:avLst>
          </a:prstGeom>
          <a:solidFill>
            <a:srgbClr val="FFE3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709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VEREDICTO: ILEGAL.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Justificación: La Ley 7/2023 prohíbe la venta y exposición de animales en tiendas físicas. El objetivo es acabar con la compra impulsiva.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PONTE A PRUEBA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seguir, comprobamos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057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¿Cuál es la causa número 1 de abandono?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560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Las camadas no deseadas (15%), no las vacaciones de verano.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3410712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547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¿Quién puede criar y vender animales legalmente?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Solo los criadores inscritos en el Registro Oficial.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901184"/>
            <a:ext cx="10881360" cy="1325880"/>
          </a:xfrm>
          <a:prstGeom prst="roundRect">
            <a:avLst>
              <a:gd name="adj" fmla="val 12414"/>
            </a:avLst>
          </a:prstGeom>
          <a:solidFill>
            <a:srgbClr val="F1E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38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¿Puede una tienda vender un cachorro en La Laguna?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54126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No — está prohibida la venta y exposición de animales en tiendas físicas.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457200"/>
            <a:ext cx="2284171" cy="384048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457200"/>
            <a:ext cx="22841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4B2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REFLEXIONAR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60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abandono no es un accidente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0881360" cy="2011680"/>
          </a:xfrm>
          <a:prstGeom prst="roundRect">
            <a:avLst>
              <a:gd name="adj" fmla="val 8182"/>
            </a:avLst>
          </a:prstGeom>
          <a:solidFill>
            <a:srgbClr val="F1ECFF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508199"/>
            <a:ext cx="378562" cy="37856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920240" y="21031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B2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cifra de abandono empieza con una decisión humana: comprar sin pensar, criar sin control, regalar sin permiso."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94360" y="4206240"/>
            <a:ext cx="10881360" cy="1463040"/>
          </a:xfrm>
          <a:prstGeom prst="roundRect">
            <a:avLst>
              <a:gd name="adj" fmla="val 11250"/>
            </a:avLst>
          </a:prstGeom>
          <a:solidFill>
            <a:srgbClr val="DDF7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2062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esto es el primer paso para no formar parte del problema.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2377440"/>
            <a:ext cx="5486400" cy="5486400"/>
          </a:xfrm>
          <a:prstGeom prst="ellipse">
            <a:avLst/>
          </a:prstGeom>
          <a:solidFill>
            <a:srgbClr val="6C4CF1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029200" cy="502920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728655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24248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DF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24248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A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0" y="12801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conoces los mitos.</a:t>
            </a:r>
            <a:endParaRPr lang="en-US" sz="3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211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toca entender qué es cuidar de verdad.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523848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próxima unidad: el bienestar animal, explicado con ciencia y con ley.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078328" y="3749040"/>
            <a:ext cx="6035040" cy="59436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/>
          <a:effectLst>
            <a:outerShdw sx="100000" sy="100000" kx="0" ky="0" algn="bl" rotWithShape="0" blurRad="127000" dist="38100" dir="5400000">
              <a:srgbClr val="4B2FD4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078328" y="3749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UNIDAD 2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2026-09-20T18:24:14Z</dcterms:created>
  <dcterms:modified xsi:type="dcterms:W3CDTF">2026-09-20T18:24:14Z</dcterms:modified>
</cp:coreProperties>
</file>