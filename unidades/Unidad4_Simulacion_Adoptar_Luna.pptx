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B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4754880" cy="384048"/>
          </a:xfrm>
          <a:prstGeom prst="roundRect">
            <a:avLst>
              <a:gd name="adj" fmla="val 50000"/>
            </a:avLst>
          </a:prstGeom>
          <a:solidFill>
            <a:srgbClr val="6C4C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45720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4 · NADIE NACE SABIENDO CUIDAR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143000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Simulación: adoptar a Luna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9601200" y="1280160"/>
            <a:ext cx="1737360" cy="1737360"/>
          </a:xfrm>
          <a:prstGeom prst="ellipse">
            <a:avLst/>
          </a:prstGeom>
          <a:solidFill>
            <a:srgbClr val="DDF7EE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0287" y="1749247"/>
            <a:ext cx="799186" cy="79918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94360" y="30632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 es una perra de 2 años que necesita un hogar. Hoy vais a simular, con números reales, qué significa adoptarla.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55768" y="822960"/>
            <a:ext cx="1280160" cy="1280160"/>
          </a:xfrm>
          <a:prstGeom prst="ellipse">
            <a:avLst/>
          </a:prstGeom>
          <a:solidFill>
            <a:srgbClr val="F1EC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1411" y="1168603"/>
            <a:ext cx="588874" cy="5888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0" y="228600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55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Conoce a Luna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066648" y="283464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años, mestiza, esterilizada.</a:t>
            </a:r>
            <a:endParaRPr lang="en-US" sz="3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Esperanza de vida: 12-15 años más.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2072488" y="4572000"/>
            <a:ext cx="8046720" cy="1005840"/>
          </a:xfrm>
          <a:prstGeom prst="roundRect">
            <a:avLst>
              <a:gd name="adj" fmla="val 16364"/>
            </a:avLst>
          </a:prstGeom>
          <a:solidFill>
            <a:srgbClr val="F1ECF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2346808" y="457200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4B2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de ahora, cada decisión económica que toméis será "en nombre de Luna".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2752344" cy="384048"/>
          </a:xfrm>
          <a:prstGeom prst="roundRect">
            <a:avLst>
              <a:gd name="adj" fmla="val 50000"/>
            </a:avLst>
          </a:prstGeom>
          <a:solidFill>
            <a:srgbClr val="F1EC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457200"/>
            <a:ext cx="2752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4B2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PRESUPUESTO VITAL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0" y="1371600"/>
            <a:ext cx="1219169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10.000€–20.000€</a:t>
            </a:r>
            <a:endParaRPr lang="en-US" sz="6200" dirty="0"/>
          </a:p>
        </p:txBody>
      </p:sp>
      <p:sp>
        <p:nvSpPr>
          <p:cNvPr id="8" name="Text 6"/>
          <p:cNvSpPr txBox="1"/>
          <p:nvPr/>
        </p:nvSpPr>
        <p:spPr>
          <a:xfrm>
            <a:off x="1523848" y="31089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1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lo que puede costar tener a Luna durante toda su vida (12-15 años).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072488" y="4846320"/>
            <a:ext cx="8046720" cy="1234440"/>
          </a:xfrm>
          <a:prstGeom prst="roundRect">
            <a:avLst>
              <a:gd name="adj" fmla="val 13333"/>
            </a:avLst>
          </a:prstGeom>
          <a:solidFill>
            <a:srgbClr val="F1ECFF"/>
          </a:solidFill>
          <a:ln/>
        </p:spPr>
      </p:sp>
      <p:sp>
        <p:nvSpPr>
          <p:cNvPr id="10" name="Shape 8"/>
          <p:cNvSpPr/>
          <p:nvPr/>
        </p:nvSpPr>
        <p:spPr>
          <a:xfrm>
            <a:off x="2392528" y="516636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53005" y="5326837"/>
            <a:ext cx="273406" cy="27340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3261208" y="4846320"/>
            <a:ext cx="6675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B2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 gasto puntual: es un compromiso económico sostenido durante más de una década.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2752344" cy="384048"/>
          </a:xfrm>
          <a:prstGeom prst="roundRect">
            <a:avLst>
              <a:gd name="adj" fmla="val 50000"/>
            </a:avLst>
          </a:prstGeom>
          <a:solidFill>
            <a:srgbClr val="F1EC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457200"/>
            <a:ext cx="2752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4B2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GASTOS FIJOS ANUALES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960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¿En qué se va el dinero cada año?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94360" y="1920240"/>
            <a:ext cx="10881360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2144268"/>
            <a:ext cx="512064" cy="512064"/>
          </a:xfrm>
          <a:prstGeom prst="ellipse">
            <a:avLst/>
          </a:prstGeom>
          <a:solidFill>
            <a:srgbClr val="F1ECFF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1217" y="2282525"/>
            <a:ext cx="235549" cy="235549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600200" y="202996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Alimentación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600200" y="237744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Pienso de calidad adecuado a su edad y tamaño, todo el año.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94360" y="3035808"/>
            <a:ext cx="10881360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22960" y="3259836"/>
            <a:ext cx="512064" cy="512064"/>
          </a:xfrm>
          <a:prstGeom prst="ellipse">
            <a:avLst/>
          </a:prstGeom>
          <a:solidFill>
            <a:srgbClr val="F1ECF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217" y="3398093"/>
            <a:ext cx="235549" cy="235549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600200" y="3145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Veterinario y vacunas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1600200" y="349300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Revisiones anuales, vacunación, desparasitación periódica.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94360" y="4151376"/>
            <a:ext cx="10881360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22960" y="4375404"/>
            <a:ext cx="512064" cy="512064"/>
          </a:xfrm>
          <a:prstGeom prst="ellipse">
            <a:avLst/>
          </a:prstGeom>
          <a:solidFill>
            <a:srgbClr val="F1ECF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217" y="4513661"/>
            <a:ext cx="235549" cy="235549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600200" y="426110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Seguro de responsabilidad civil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600200" y="460857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Obligatorio por la Ley 7/2023, cubre daños a terceros.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3805733" cy="384048"/>
          </a:xfrm>
          <a:prstGeom prst="roundRect">
            <a:avLst>
              <a:gd name="adj" fmla="val 50000"/>
            </a:avLst>
          </a:prstGeom>
          <a:solidFill>
            <a:srgbClr val="F1EC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457200"/>
            <a:ext cx="380573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4B2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OBLIGACIÓN LEGAL · LEY 7/2023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960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seguro de responsabilidad civil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94360" y="1965960"/>
            <a:ext cx="10881360" cy="2011680"/>
          </a:xfrm>
          <a:prstGeom prst="roundRect">
            <a:avLst>
              <a:gd name="adj" fmla="val 8182"/>
            </a:avLst>
          </a:prstGeom>
          <a:solidFill>
            <a:srgbClr val="F1ECFF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228600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" y="2508199"/>
            <a:ext cx="378562" cy="37856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920240" y="2103120"/>
            <a:ext cx="9326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4B2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obligatorio para perros: cubre los daños que el animal pueda causar a otras personas, animales o bienes.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594360" y="4206240"/>
            <a:ext cx="10881360" cy="1463040"/>
          </a:xfrm>
          <a:prstGeom prst="roundRect">
            <a:avLst>
              <a:gd name="adj" fmla="val 11250"/>
            </a:avLst>
          </a:prstGeom>
          <a:solidFill>
            <a:srgbClr val="FFE3E6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68680" y="420624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tenerlo no es solo un riesgo económico — es una infracción sancionable.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4625035" cy="384048"/>
          </a:xfrm>
          <a:prstGeom prst="roundRect">
            <a:avLst>
              <a:gd name="adj" fmla="val 50000"/>
            </a:avLst>
          </a:prstGeom>
          <a:solidFill>
            <a:srgbClr val="F1EC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457200"/>
            <a:ext cx="46250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4B2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OBLIGACIÓN LEGAL · MICROCHIP Y CENSO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960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Identificar a Luna es obligatorio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94360" y="1965960"/>
            <a:ext cx="10881360" cy="2011680"/>
          </a:xfrm>
          <a:prstGeom prst="roundRect">
            <a:avLst>
              <a:gd name="adj" fmla="val 8182"/>
            </a:avLst>
          </a:prstGeom>
          <a:solidFill>
            <a:srgbClr val="F1ECFF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228600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" y="2508199"/>
            <a:ext cx="378562" cy="37856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920240" y="2103120"/>
            <a:ext cx="9326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4B2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microchip identifica al animal de por vida, y el censo municipal registra quién es su responsable legal.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594360" y="4206240"/>
            <a:ext cx="10881360" cy="1463040"/>
          </a:xfrm>
          <a:prstGeom prst="roundRect">
            <a:avLst>
              <a:gd name="adj" fmla="val 11250"/>
            </a:avLst>
          </a:prstGeom>
          <a:solidFill>
            <a:srgbClr val="DDF7E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68680" y="420624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esto, Luna no puede "existir" oficialmente para el ayuntamiento — y su adulto responsable puede ser sancionado.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6C4C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457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SIMULACIÓN EN EQUIPO · 15 MIN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960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sobres de imprevistos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6916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equipo recibe un presupuesto inicial simulado y varios "sobres" con imprevistos que Luna puede tener a lo largo de su vida.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" y="242316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1ECFF"/>
          </a:solidFill>
          <a:ln w="16510">
            <a:solidFill>
              <a:srgbClr val="6C4CF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404872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Formad equipos de 3-4. Recibiréis un presupuesto inicial (dinero ficticio) y un fondo de ahorro.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94360" y="313639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1ECFF"/>
          </a:solidFill>
          <a:ln w="16510">
            <a:solidFill>
              <a:srgbClr val="6C4CF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3136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118104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Abrid un sobre cada vez y decidid en equipo cómo resolver el imprevisto con vuestro presupuesto.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94360" y="384962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1ECFF"/>
          </a:solidFill>
          <a:ln w="16510">
            <a:solidFill>
              <a:srgbClr val="6C4CF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3849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831336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Anotad qué decisión tomasteis y qué le pasó a Luna en cada caso.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94360" y="5806440"/>
            <a:ext cx="10881360" cy="685800"/>
          </a:xfrm>
          <a:prstGeom prst="roundRect">
            <a:avLst>
              <a:gd name="adj" fmla="val 24000"/>
            </a:avLst>
          </a:prstGeom>
          <a:solidFill>
            <a:srgbClr val="DDF7E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68680" y="580644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A4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No hay trampa: a veces no llegaréis a cubrir todo. El objetivo es sentir la presión real de la responsabilidad económica.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55768" y="822960"/>
            <a:ext cx="1280160" cy="1280160"/>
          </a:xfrm>
          <a:prstGeom prst="ellipse">
            <a:avLst/>
          </a:prstGeom>
          <a:solidFill>
            <a:srgbClr val="FFE3E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1411" y="1168603"/>
            <a:ext cx="588874" cy="5888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0" y="228600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55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1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066648" y="283464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5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Luna se rompe una pata jugando.</a:t>
            </a:r>
            <a:endParaRPr lang="en-US" sz="3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5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veterinario cuesta 800€.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2072488" y="4572000"/>
            <a:ext cx="8046720" cy="1005840"/>
          </a:xfrm>
          <a:prstGeom prst="roundRect">
            <a:avLst>
              <a:gd name="adj" fmla="val 16364"/>
            </a:avLst>
          </a:prstGeom>
          <a:solidFill>
            <a:srgbClr val="F1ECF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2346808" y="457200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4B2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Tenéis 200€ ahorrados en el fondo de emergencia del equipo. ¿Qué hacéis?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55768" y="822960"/>
            <a:ext cx="1280160" cy="1280160"/>
          </a:xfrm>
          <a:prstGeom prst="ellipse">
            <a:avLst/>
          </a:prstGeom>
          <a:solidFill>
            <a:srgbClr val="FFF4D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1411" y="1168603"/>
            <a:ext cx="588874" cy="5888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0" y="228600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55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2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066648" y="283464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7A5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Vais a mudaros y el nuevo piso</a:t>
            </a:r>
            <a:endParaRPr lang="en-US" sz="3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7A5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exige seguro de responsabilidad civil al día.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2072488" y="4572000"/>
            <a:ext cx="8046720" cy="1005840"/>
          </a:xfrm>
          <a:prstGeom prst="roundRect">
            <a:avLst>
              <a:gd name="adj" fmla="val 16364"/>
            </a:avLst>
          </a:prstGeom>
          <a:solidFill>
            <a:srgbClr val="F1ECF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2346808" y="457200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4B2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Descubrís que no lo renovasteis el año pasado para ahorrar. ¿Cómo lo resolvéis?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55768" y="822960"/>
            <a:ext cx="1280160" cy="1280160"/>
          </a:xfrm>
          <a:prstGeom prst="ellipse">
            <a:avLst/>
          </a:prstGeom>
          <a:solidFill>
            <a:srgbClr val="DDF7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1411" y="1168603"/>
            <a:ext cx="588874" cy="5888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0" y="228600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55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3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066648" y="283464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B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Luna cumple 10 años</a:t>
            </a:r>
            <a:endParaRPr lang="en-US" sz="3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B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necesita una dieta especial más cara.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2072488" y="4572000"/>
            <a:ext cx="8046720" cy="1005840"/>
          </a:xfrm>
          <a:prstGeom prst="roundRect">
            <a:avLst>
              <a:gd name="adj" fmla="val 16364"/>
            </a:avLst>
          </a:prstGeom>
          <a:solidFill>
            <a:srgbClr val="F1ECF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2346808" y="457200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4B2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gasto permanente, no puntual. ¿Ajustáis otra partida del presupuesto?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4572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7A5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PUESTA EN COMÚN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960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os ha ido con Luna?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94360" y="1828800"/>
            <a:ext cx="10881360" cy="1371600"/>
          </a:xfrm>
          <a:prstGeom prst="roundRect">
            <a:avLst>
              <a:gd name="adj" fmla="val 12000"/>
            </a:avLst>
          </a:prstGeom>
          <a:solidFill>
            <a:srgbClr val="F1EC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82880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B2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equipo comparte brevemente un imprevisto que le costó resolver y cómo lo solucionó (o no pudo).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4360" y="4663440"/>
            <a:ext cx="10881360" cy="1371600"/>
          </a:xfrm>
          <a:prstGeom prst="roundRect">
            <a:avLst>
              <a:gd name="adj" fmla="val 12000"/>
            </a:avLst>
          </a:prstGeom>
          <a:solidFill>
            <a:srgbClr val="FFF4D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466344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Sed honestos: si algún equipo se quedó sin presupuesto, es una oportunidad para hablar de qué fallo previo lo causó.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55768" y="822960"/>
            <a:ext cx="1280160" cy="1280160"/>
          </a:xfrm>
          <a:prstGeom prst="ellipse">
            <a:avLst/>
          </a:prstGeom>
          <a:solidFill>
            <a:srgbClr val="FFF4D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1411" y="1168603"/>
            <a:ext cx="588874" cy="5888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0" y="228600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55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idea más importante de la unidad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066648" y="283464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5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problemas imprevistos</a:t>
            </a:r>
            <a:endParaRPr lang="en-US" sz="3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5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nunca justifican el abandono.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2072488" y="4572000"/>
            <a:ext cx="8046720" cy="1005840"/>
          </a:xfrm>
          <a:prstGeom prst="roundRect">
            <a:avLst>
              <a:gd name="adj" fmla="val 16364"/>
            </a:avLst>
          </a:prstGeom>
          <a:solidFill>
            <a:srgbClr val="F1ECF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2346808" y="457200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4B2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compromiso es para siempre. Por eso hay que planificar antes de adoptar, no improvisar después.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3337560" cy="384048"/>
          </a:xfrm>
          <a:prstGeom prst="roundRect">
            <a:avLst>
              <a:gd name="adj" fmla="val 50000"/>
            </a:avLst>
          </a:prstGeom>
          <a:solidFill>
            <a:srgbClr val="F1EC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45720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4B2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PREPARARSE DE VERDAD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960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adoptar, prepara esto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94360" y="1920240"/>
            <a:ext cx="10881360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2144268"/>
            <a:ext cx="512064" cy="512064"/>
          </a:xfrm>
          <a:prstGeom prst="ellipse">
            <a:avLst/>
          </a:prstGeom>
          <a:solidFill>
            <a:srgbClr val="DDF7EE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1217" y="2282525"/>
            <a:ext cx="235549" cy="235549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600200" y="202996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fondo de emergencia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600200" y="237744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 específico para imprevistos veterinarios, aparte del gasto mensual habitual.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94360" y="3035808"/>
            <a:ext cx="10881360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22960" y="3259836"/>
            <a:ext cx="512064" cy="512064"/>
          </a:xfrm>
          <a:prstGeom prst="ellipse">
            <a:avLst/>
          </a:prstGeom>
          <a:solidFill>
            <a:srgbClr val="DDF7E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217" y="3398093"/>
            <a:ext cx="235549" cy="235549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600200" y="3145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Seguro y papeles al día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1600200" y="349300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Seguro de RC, microchip y censo municipal, revisados cada año.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94360" y="4151376"/>
            <a:ext cx="10881360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22960" y="4375404"/>
            <a:ext cx="512064" cy="512064"/>
          </a:xfrm>
          <a:prstGeom prst="ellipse">
            <a:avLst/>
          </a:prstGeom>
          <a:solidFill>
            <a:srgbClr val="DDF7EE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217" y="4513661"/>
            <a:ext cx="235549" cy="235549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600200" y="426110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Informarte antes de decidir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600200" y="460857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Habla con veterinarios, protectoras o familias con experiencia antes de dar el paso.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6C4C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457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PONTE A PRUEBA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960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seguir, comprobamos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94360" y="1920240"/>
            <a:ext cx="10881360" cy="1325880"/>
          </a:xfrm>
          <a:prstGeom prst="roundRect">
            <a:avLst>
              <a:gd name="adj" fmla="val 12414"/>
            </a:avLst>
          </a:prstGeom>
          <a:solidFill>
            <a:srgbClr val="F1EC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0574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¿Cuánto puede costar tener un animal a lo largo de su vida?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5603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4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Entre 10.000 € y 20.000 €, en 12-15 años.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3410712"/>
            <a:ext cx="10881360" cy="1325880"/>
          </a:xfrm>
          <a:prstGeom prst="roundRect">
            <a:avLst>
              <a:gd name="adj" fmla="val 12414"/>
            </a:avLst>
          </a:prstGeom>
          <a:solidFill>
            <a:srgbClr val="F1EC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354787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¿Qué cubre el seguro de responsabilidad civil obligatorio?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05079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4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Los daños que el animal pueda causar a terceros, personas u otros bienes.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94360" y="4901184"/>
            <a:ext cx="10881360" cy="1325880"/>
          </a:xfrm>
          <a:prstGeom prst="roundRect">
            <a:avLst>
              <a:gd name="adj" fmla="val 12414"/>
            </a:avLst>
          </a:prstGeom>
          <a:solidFill>
            <a:srgbClr val="F1EC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5038344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¿Qué deberíamos tener antes de adoptar, además de cariño?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5541264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4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Un presupuesto realista, seguro, microchip/censo y un fondo de emergencia.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724248" y="50292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DDF7E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724248" y="5029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A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 DE LA UNIDAD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0" y="1280160"/>
            <a:ext cx="121916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 sabes lo que cuesta cuidar a Luna.</a:t>
            </a:r>
            <a:endParaRPr lang="en-US" sz="3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Ahora, ¿qué dice la ley si algo sale mal?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1523848" y="2834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próxima unidad: el marco legal en Canarias y el protocolo ante el maltrato.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3078328" y="3749040"/>
            <a:ext cx="6035040" cy="594360"/>
          </a:xfrm>
          <a:prstGeom prst="roundRect">
            <a:avLst>
              <a:gd name="adj" fmla="val 50000"/>
            </a:avLst>
          </a:prstGeom>
          <a:solidFill>
            <a:srgbClr val="6C4CF1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078328" y="374904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SIGUIENTE: UNIDAD 5 →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2026-09-20T21:24:03Z</dcterms:created>
  <dcterms:modified xsi:type="dcterms:W3CDTF">2026-09-20T21:24:03Z</dcterms:modified>
</cp:coreProperties>
</file>