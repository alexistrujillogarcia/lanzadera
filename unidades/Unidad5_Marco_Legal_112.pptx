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B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4754880" cy="384048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5 · NADIE NACE SABIENDO CUIDAR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14300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ley en Canarias y qué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hacer ante el maltrato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9601200" y="1280160"/>
            <a:ext cx="1737360" cy="1737360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287" y="1749247"/>
            <a:ext cx="799186" cy="79918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4360" y="3063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niveles de ley, un concurso para ponerlos a prueba, y un protocolo para actuar si hace falta.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4273906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4273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NIVELES, UNA SOLA PROTECCIÓN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 hace las normas?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3505200" cy="3566160"/>
          </a:xfrm>
          <a:prstGeom prst="roundRect">
            <a:avLst>
              <a:gd name="adj" fmla="val 4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0392" y="2221992"/>
            <a:ext cx="640080" cy="640080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214" y="2394814"/>
            <a:ext cx="294437" cy="29443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77240" y="306324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Estatal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657600"/>
            <a:ext cx="313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7/2023: microchip, seguro RC obligatorio, prohibición de venta en tiendas físicas.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282440" y="1965960"/>
            <a:ext cx="3505200" cy="3566160"/>
          </a:xfrm>
          <a:prstGeom prst="roundRect">
            <a:avLst>
              <a:gd name="adj" fmla="val 4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38472" y="2221992"/>
            <a:ext cx="640080" cy="640080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294" y="2394814"/>
            <a:ext cx="294437" cy="29443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465320" y="306324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Autonómico (Canarias)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4465320" y="3657600"/>
            <a:ext cx="313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8/1991 y Decreto 117/1995: obligaciones generales de tenencia y sus sanciones.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970520" y="1965960"/>
            <a:ext cx="3505200" cy="3566160"/>
          </a:xfrm>
          <a:prstGeom prst="roundRect">
            <a:avLst>
              <a:gd name="adj" fmla="val 4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6552" y="2221992"/>
            <a:ext cx="640080" cy="640080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374" y="2394814"/>
            <a:ext cx="294437" cy="29443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153400" y="306324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 (La Laguna)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8153400" y="3657600"/>
            <a:ext cx="313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Ordenanza local: edad mínima, ataduras, ruidos y deyecciones.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3454603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34546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ESTATAL · LEY 7/2023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base para toda España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10881360" cy="2011680"/>
          </a:xfrm>
          <a:prstGeom prst="roundRect">
            <a:avLst>
              <a:gd name="adj" fmla="val 8182"/>
            </a:avLst>
          </a:prstGeom>
          <a:solidFill>
            <a:srgbClr val="F1ECFF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2860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" y="2508199"/>
            <a:ext cx="378562" cy="37856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920240" y="2103120"/>
            <a:ext cx="9326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B2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el mínimo común: microchip obligatorio, seguro de responsabilidad civil, prohibición de venta y exposición en tiendas físicas.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94360" y="4206240"/>
            <a:ext cx="10881360" cy="1463040"/>
          </a:xfrm>
          <a:prstGeom prst="roundRect">
            <a:avLst>
              <a:gd name="adj" fmla="val 11250"/>
            </a:avLst>
          </a:prstGeom>
          <a:solidFill>
            <a:srgbClr val="DDF7E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420624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comunidades autónomas y los ayuntamientos pueden añadir más exigencias, nunca menos.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6029554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60295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AUTONÓMICO · LEY 8/1991 Y DECRETO 117/1995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reglas propias de Canarias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10881360" cy="2011680"/>
          </a:xfrm>
          <a:prstGeom prst="roundRect">
            <a:avLst>
              <a:gd name="adj" fmla="val 8182"/>
            </a:avLst>
          </a:prstGeom>
          <a:solidFill>
            <a:srgbClr val="F1ECFF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2860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" y="2508199"/>
            <a:ext cx="378562" cy="37856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920240" y="2103120"/>
            <a:ext cx="9326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B2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Regulan obligaciones generales de tenencia responsable en el archipiélago, y desarrollan el régimen de sanciones autonómico.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94360" y="4206240"/>
            <a:ext cx="10881360" cy="1463040"/>
          </a:xfrm>
          <a:prstGeom prst="roundRect">
            <a:avLst>
              <a:gd name="adj" fmla="val 11250"/>
            </a:avLst>
          </a:prstGeom>
          <a:solidFill>
            <a:srgbClr val="DDF7E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420624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normas anteriores a la ley estatal, pero siguen vigentes en todo lo que no contradiga a la Ley 7/2023.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5093208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5093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MUNICIPAL · ORDENANZA DE LA LAGUNA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reglas de tu propia calle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10881360" cy="2011680"/>
          </a:xfrm>
          <a:prstGeom prst="roundRect">
            <a:avLst>
              <a:gd name="adj" fmla="val 8182"/>
            </a:avLst>
          </a:prstGeom>
          <a:solidFill>
            <a:srgbClr val="F1ECFF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2860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" y="2508199"/>
            <a:ext cx="378562" cy="37856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920240" y="2103120"/>
            <a:ext cx="9326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B2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Prohíbe vender o donar animales a menores de 18 años, regula ataduras (mínimo 2 metros), ruidos y la recogida de deyecciones.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94360" y="4206240"/>
            <a:ext cx="10881360" cy="1463040"/>
          </a:xfrm>
          <a:prstGeom prst="roundRect">
            <a:avLst>
              <a:gd name="adj" fmla="val 11250"/>
            </a:avLst>
          </a:prstGeom>
          <a:solidFill>
            <a:srgbClr val="DDF7E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420624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la norma más cercana a tu día a día — y la que más fácilmente puedes ayudar a que se cumpla.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CONCURSO EN EQUIPO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¿Legal o ilegal?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91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equipos, vais a levantar una tarjeta LEGAL o ILEGAL para cada caso. Un punto por acierto, un punto extra por justificar bien.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24231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1ECFF"/>
          </a:solidFill>
          <a:ln w="16510">
            <a:solidFill>
              <a:srgbClr val="6C4C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40487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Formad equipos y preparad vuestras tarjetas de colores (verde = LEGAL, roja = ILEGAL).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313639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1ECFF"/>
          </a:solidFill>
          <a:ln w="16510">
            <a:solidFill>
              <a:srgbClr val="6C4C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118104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caso, debatid 15 segundos en equipo y levantad vuestra tarjeta a la vez.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94360" y="384962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1ECFF"/>
          </a:solidFill>
          <a:ln w="16510">
            <a:solidFill>
              <a:srgbClr val="6C4C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831336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que acierte y justifique mejor su respuesta gana el punto extra.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3657600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1 DEL CONCURSO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¿Legal o ilegal?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088136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8680" y="192024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al perro atado en el patio con una cuerda de metro y medio para que no moleste.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3703320"/>
            <a:ext cx="3108960" cy="56692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94360" y="3703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5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86200" y="3703320"/>
            <a:ext cx="3108960" cy="566928"/>
          </a:xfrm>
          <a:prstGeom prst="roundRect">
            <a:avLst>
              <a:gd name="adj" fmla="val 50000"/>
            </a:avLst>
          </a:prstGeom>
          <a:solidFill>
            <a:srgbClr val="FF5C6C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886200" y="3703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ILEGAL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4572000"/>
            <a:ext cx="10881360" cy="1691640"/>
          </a:xfrm>
          <a:prstGeom prst="roundRect">
            <a:avLst>
              <a:gd name="adj" fmla="val 9730"/>
            </a:avLst>
          </a:prstGeom>
          <a:solidFill>
            <a:srgbClr val="FFE3E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709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VEREDICTO: ILEGAL.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16636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Justificación: La atadura debe medir mínimo 3 veces la longitud del animal, nunca menos de 2 metros.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3657600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2 DEL CONCURSO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¿Legal o ilegal?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088136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8680" y="192024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recoger los excrementos del perro porque "total, es abono para el césped del jardín".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3703320"/>
            <a:ext cx="3108960" cy="56692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94360" y="3703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5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86200" y="3703320"/>
            <a:ext cx="3108960" cy="566928"/>
          </a:xfrm>
          <a:prstGeom prst="roundRect">
            <a:avLst>
              <a:gd name="adj" fmla="val 50000"/>
            </a:avLst>
          </a:prstGeom>
          <a:solidFill>
            <a:srgbClr val="FF5C6C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886200" y="3703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ILEGAL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4572000"/>
            <a:ext cx="10881360" cy="1691640"/>
          </a:xfrm>
          <a:prstGeom prst="roundRect">
            <a:avLst>
              <a:gd name="adj" fmla="val 9730"/>
            </a:avLst>
          </a:prstGeom>
          <a:solidFill>
            <a:srgbClr val="FFE3E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709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VEREDICTO: ILEGAL.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16636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Justificación: En La Laguna es una infracción GRAVE, no leve. La multa puede llegar hasta 1.502,53 €.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3657600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3 DEL CONCURSO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¿Legal o ilegal?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088136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8680" y="192024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Llevar al perro al parque infantil, atado con una correa muy corta para que no se acerque a los niños.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3703320"/>
            <a:ext cx="3108960" cy="56692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94360" y="3703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5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86200" y="3703320"/>
            <a:ext cx="3108960" cy="566928"/>
          </a:xfrm>
          <a:prstGeom prst="roundRect">
            <a:avLst>
              <a:gd name="adj" fmla="val 50000"/>
            </a:avLst>
          </a:prstGeom>
          <a:solidFill>
            <a:srgbClr val="FF5C6C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886200" y="3703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ILEGAL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4572000"/>
            <a:ext cx="10881360" cy="1691640"/>
          </a:xfrm>
          <a:prstGeom prst="roundRect">
            <a:avLst>
              <a:gd name="adj" fmla="val 9730"/>
            </a:avLst>
          </a:prstGeom>
          <a:solidFill>
            <a:srgbClr val="FFE3E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709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VEREDICTO: ILEGAL.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16636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Justificación: La ordenanza prohíbe el acceso y permanencia de animales en áreas de juego infantil, incluso atados.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3657600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4 DEL CONCURSO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¿Legal o ilegal?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088136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8680" y="192024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 a un perro sufriendo maltrato evidente y decides denunciarlo, aunque no seas el dueño ni conozcas a nadie implicado.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3703320"/>
            <a:ext cx="3108960" cy="566928"/>
          </a:xfrm>
          <a:prstGeom prst="roundRect">
            <a:avLst>
              <a:gd name="adj" fmla="val 50000"/>
            </a:avLst>
          </a:prstGeom>
          <a:solidFill>
            <a:srgbClr val="0FB88A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94360" y="3703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86200" y="3703320"/>
            <a:ext cx="3108960" cy="56692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886200" y="3703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5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ILEGAL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4572000"/>
            <a:ext cx="10881360" cy="1691640"/>
          </a:xfrm>
          <a:prstGeom prst="roundRect">
            <a:avLst>
              <a:gd name="adj" fmla="val 9730"/>
            </a:avLst>
          </a:prstGeom>
          <a:solidFill>
            <a:srgbClr val="DDF7E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709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VEREDICTO: NO SOLO LEGAL: ES TU DEBER.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16636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4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Justificación: La ordenanza reconoce a toda persona el deber de denunciar los incumplimientos que presencie. No es "meterse donde no te llaman".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55768" y="822960"/>
            <a:ext cx="1280160" cy="1280160"/>
          </a:xfrm>
          <a:prstGeom prst="ellipse">
            <a:avLst/>
          </a:prstGeom>
          <a:solidFill>
            <a:srgbClr val="FFF4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1411" y="1168603"/>
            <a:ext cx="588874" cy="5888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0" y="22860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5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del concurso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066648" y="283464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7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¡Buen trabajo, equipo ganador!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2072488" y="4572000"/>
            <a:ext cx="8046720" cy="1005840"/>
          </a:xfrm>
          <a:prstGeom prst="roundRect">
            <a:avLst>
              <a:gd name="adj" fmla="val 16364"/>
            </a:avLst>
          </a:prstGeom>
          <a:solidFill>
            <a:srgbClr val="F1EC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346808" y="45720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4B2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Conocer la ley no es solo para aprobar un examen: es la herramienta que usaréis si algún día tenéis que actuar de verdad.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752344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752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VES MALTRATO REAL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protocolo de las 4 "P"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0881360" cy="77724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052828"/>
            <a:ext cx="512064" cy="512064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217" y="2191085"/>
            <a:ext cx="235549" cy="235549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00200" y="20299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Protégete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600200" y="23774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te enfrentes al agresor ni entres a propiedades privadas. Es peligroso e invalida el caso.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4360" y="2852928"/>
            <a:ext cx="10881360" cy="77724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2960" y="2985516"/>
            <a:ext cx="512064" cy="512064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217" y="3123773"/>
            <a:ext cx="235549" cy="23554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600200" y="29626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600200" y="33101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 vídeos o fotos desde lejos. Anota ubicación exacta, matrícula, fecha y hora.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94360" y="3785616"/>
            <a:ext cx="10881360" cy="77724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" y="3918204"/>
            <a:ext cx="512064" cy="512064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17" y="4056461"/>
            <a:ext cx="235549" cy="23554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600200" y="389534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Policía (112 / 092 / 062)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600200" y="424281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Emergencias, Policía Local o Seprona. Dar datos objetivos es tu mejor arma.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594360" y="4718304"/>
            <a:ext cx="10881360" cy="77724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22960" y="4850892"/>
            <a:ext cx="512064" cy="512064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17" y="4989149"/>
            <a:ext cx="235549" cy="235549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600200" y="482803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Paciencia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1600200" y="517550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burocracia institucional es lenta, pero tu denuncia formal queda registrada.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ROLEPLAY · POR PAREJAS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Simulacro de llamada al 112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91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persona hace de "operador/a de emergencias", la otra de testigo que llama para reportar un caso de maltrato.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24231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1ECFF"/>
          </a:solidFill>
          <a:ln w="16510">
            <a:solidFill>
              <a:srgbClr val="6C4C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40487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Elegid quién llama y quién opera la centralita. El testigo debe aplicar la regla de las 4 P.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313639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1ECFF"/>
          </a:solidFill>
          <a:ln w="16510">
            <a:solidFill>
              <a:srgbClr val="6C4C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118104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llamada debe incluir: ubicación exacta, descripción del animal y de la situación, y si hay peligro presente.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94360" y="384962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1ECFF"/>
          </a:solidFill>
          <a:ln w="16510">
            <a:solidFill>
              <a:srgbClr val="6C4C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831336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Intercambiad los papeles y repetid con un caso distinto.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94360" y="5806440"/>
            <a:ext cx="10881360" cy="685800"/>
          </a:xfrm>
          <a:prstGeom prst="roundRect">
            <a:avLst>
              <a:gd name="adj" fmla="val 24000"/>
            </a:avLst>
          </a:prstGeom>
          <a:solidFill>
            <a:srgbClr val="DDF7E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580644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A4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El profesor evaluará esta simulación como parte de la prueba práctica del programa.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PONTE A PRUEBA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seguir, comprobamos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0881360" cy="1325880"/>
          </a:xfrm>
          <a:prstGeom prst="roundRect">
            <a:avLst>
              <a:gd name="adj" fmla="val 12414"/>
            </a:avLst>
          </a:prstGeom>
          <a:solidFill>
            <a:srgbClr val="F1EC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0574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¿Qué ley exige el seguro de responsabilidad civil obligatorio?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5603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4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La Ley 7/2023, de ámbito estatal.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410712"/>
            <a:ext cx="10881360" cy="1325880"/>
          </a:xfrm>
          <a:prstGeom prst="roundRect">
            <a:avLst>
              <a:gd name="adj" fmla="val 12414"/>
            </a:avLst>
          </a:prstGeom>
          <a:solidFill>
            <a:srgbClr val="F1EC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54787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¿Cuánto puede costar no recoger las cacas de tu perro en La Laguna?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050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4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Hasta 1.502,53 €: es infracción GRAVE, no leve.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4901184"/>
            <a:ext cx="10881360" cy="1325880"/>
          </a:xfrm>
          <a:prstGeom prst="roundRect">
            <a:avLst>
              <a:gd name="adj" fmla="val 12414"/>
            </a:avLst>
          </a:prstGeom>
          <a:solidFill>
            <a:srgbClr val="F1EC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503834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¿Cuál es la primera "P" del protocolo ante el maltrato?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54126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4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Protégete: nunca te enfrentes al agresor.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24248" y="50292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DDF7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724248" y="502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DE LA UNIDAD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0" y="1280160"/>
            <a:ext cx="121916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conoces la ley y el protocolo.</a:t>
            </a:r>
            <a:endParaRPr lang="en-US" sz="3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Ahora, conviértelo en un mensaje para otros.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1523848" y="2834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próxima unidad: vuestro propio reto creativo de sensibilización.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3078328" y="3749040"/>
            <a:ext cx="6035040" cy="594360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078328" y="374904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SIGUIENTE: UNIDAD 6 →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2026-09-20T21:25:04Z</dcterms:created>
  <dcterms:modified xsi:type="dcterms:W3CDTF">2026-09-20T21:25:04Z</dcterms:modified>
</cp:coreProperties>
</file>