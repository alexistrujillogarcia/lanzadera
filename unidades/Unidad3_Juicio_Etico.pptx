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3 · NADIE NACE SABIENDO CUIDAR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1430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 de posición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juicio ético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9601200" y="1280160"/>
            <a:ext cx="1737360" cy="173736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1749247"/>
            <a:ext cx="799186" cy="79918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4360" y="3063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siempre hay una única respuesta correcta. Hoy vamos a debatir, argumentar y escuchar.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752344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REGLAS DEL JUEGO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 el "termómetro de opinión"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44268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28252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 lee un dilema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profesor plantea una frase o situación con la que puedes estar más o menos de acuerdo.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035808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259836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39809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145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 posicionas en el aula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4930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extremo del aula es "totalmente de acuerdo", el otro "totalmente en desacuerdo". Te colocas según tu opinión real.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4151376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375404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5136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2611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 debate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6085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de distintos puntos explican su postura. Puedes cambiar de posición si te convencen.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DILEMA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Posiciónate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 tengo dinero ahorrado, debería poder comprar el cachorro de raza que quiero, aunque haya muchos animales esperando en adopción."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10515600" cy="457200"/>
          </a:xfrm>
          <a:prstGeom prst="roundRect">
            <a:avLst>
              <a:gd name="adj" fmla="val 50000"/>
            </a:avLst>
          </a:prstGeom>
          <a:solidFill>
            <a:srgbClr val="FFE3E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520440"/>
            <a:ext cx="10515600" cy="457200"/>
          </a:xfrm>
          <a:prstGeom prst="roundRect">
            <a:avLst>
              <a:gd name="adj" fmla="val 50000"/>
            </a:avLst>
          </a:prstGeom>
          <a:ln/>
        </p:spPr>
      </p:sp>
      <p:sp>
        <p:nvSpPr>
          <p:cNvPr id="12" name="Text 10"/>
          <p:cNvSpPr txBox="1"/>
          <p:nvPr/>
        </p:nvSpPr>
        <p:spPr>
          <a:xfrm>
            <a:off x="82296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TOTALMENTE EN DESACUERDO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TOTALMENTE DE ACUERDO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Colócate en el aula según tu grado de acuerdo. Prepárate para explicar por qué.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PUESTA EN COMÚN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te has colocado ahí?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Escuchamos a 2-3 personas de posiciones distintas. Nadie está "equivocado" por pensar diferente — el objetivo es argumentar bien.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Si alguien te convence con un buen argumento, puedes cambiarte de sitio. Eso también es parte del juego.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DILEMA 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Posiciónate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 menor de edad debería poder decidir tener una mascota propia, aunque sus padres no estén de acuerdo."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10515600" cy="457200"/>
          </a:xfrm>
          <a:prstGeom prst="roundRect">
            <a:avLst>
              <a:gd name="adj" fmla="val 50000"/>
            </a:avLst>
          </a:prstGeom>
          <a:solidFill>
            <a:srgbClr val="FFE3E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520440"/>
            <a:ext cx="10515600" cy="457200"/>
          </a:xfrm>
          <a:prstGeom prst="roundRect">
            <a:avLst>
              <a:gd name="adj" fmla="val 50000"/>
            </a:avLst>
          </a:prstGeom>
          <a:ln/>
        </p:spPr>
      </p:sp>
      <p:sp>
        <p:nvSpPr>
          <p:cNvPr id="12" name="Text 10"/>
          <p:cNvSpPr txBox="1"/>
          <p:nvPr/>
        </p:nvSpPr>
        <p:spPr>
          <a:xfrm>
            <a:off x="82296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TOTALMENTE EN DESACUERDO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TOTALMENTE DE ACUERDO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Colócate según tu opinión. Piensa: ¿quién asume la responsabilidad legal si algo sale mal?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55768" y="822960"/>
            <a:ext cx="1280160" cy="128016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411" y="1168603"/>
            <a:ext cx="588874" cy="5888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286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dato legal importante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66648" y="2834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padres o tutores son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responsables legales del animal.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072488" y="4572000"/>
            <a:ext cx="8046720" cy="1005840"/>
          </a:xfrm>
          <a:prstGeom prst="roundRect">
            <a:avLst>
              <a:gd name="adj" fmla="val 16364"/>
            </a:avLst>
          </a:prstGeom>
          <a:solidFill>
            <a:srgbClr val="F1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46808" y="4572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el animal "sea tuyo" emocionalmente, el seguro, el censo y las sanciones recaen legalmente en un adulto.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DILEMA 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Posiciónate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 veo a un amigo cuidando mal a su mascota por pura ignorancia (no por maldad), debo hablarlo con él antes de denunciarlo."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10515600" cy="457200"/>
          </a:xfrm>
          <a:prstGeom prst="roundRect">
            <a:avLst>
              <a:gd name="adj" fmla="val 50000"/>
            </a:avLst>
          </a:prstGeom>
          <a:solidFill>
            <a:srgbClr val="FFE3E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520440"/>
            <a:ext cx="10515600" cy="457200"/>
          </a:xfrm>
          <a:prstGeom prst="roundRect">
            <a:avLst>
              <a:gd name="adj" fmla="val 50000"/>
            </a:avLst>
          </a:prstGeom>
          <a:ln/>
        </p:spPr>
      </p:sp>
      <p:sp>
        <p:nvSpPr>
          <p:cNvPr id="12" name="Text 10"/>
          <p:cNvSpPr txBox="1"/>
          <p:nvPr/>
        </p:nvSpPr>
        <p:spPr>
          <a:xfrm>
            <a:off x="82296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TOTALMENTE EN DESACUERDO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TOTALMENTE DE ACUERDO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Colócate en el aula. Piensa en la diferencia entre ignorancia y maltrato intencionado.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PUESTA EN COMÚN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¿Hablar primero o denunciar directamente?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una respuesta única: depende de la gravedad, del riesgo para el animal y de si hay tiempo para actuar.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En los casos de riesgo vital inmediato, la prioridad siempre es actuar rápido (protocolo 112) — lo veremos en la Unidad 5.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571646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5716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HOGAR PREPARADO?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Señales de que un hogar está listo para un animal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44268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28252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y estabilidad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lugar fijo, sin previsión de mudanzas que no admitan animales.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035808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259836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39809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145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Acuerdo familiar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4930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familia está de acuerdo, no solo quien más lo desea.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4151376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375404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5136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2611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de tiempo y dinero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6085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diario real y un colchón económico para imprevistos.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GRUPO · 6 MIN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contrato de adopción familiar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grupos de 3-4, redactad las 5 condiciones que, para vosotros, debería cumplir una familia antes de adoptar un animal.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231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0487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Debatid en grupo y llegad a un acuerdo sobre 5 condiciones clave.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1363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1810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Ordenadlas de más a menos importante.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384962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3133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portavoz por grupo comparte la condición número 1 de su lista.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DILEMA 4 (EL MÁS DIFÍCIL)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Posiciónate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 mi familia se muda a un piso donde no admiten mascotas, lo más fácil es regalar al animal a quien sea, rápido."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10515600" cy="457200"/>
          </a:xfrm>
          <a:prstGeom prst="roundRect">
            <a:avLst>
              <a:gd name="adj" fmla="val 50000"/>
            </a:avLst>
          </a:prstGeom>
          <a:solidFill>
            <a:srgbClr val="FFE3E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520440"/>
            <a:ext cx="10515600" cy="457200"/>
          </a:xfrm>
          <a:prstGeom prst="roundRect">
            <a:avLst>
              <a:gd name="adj" fmla="val 50000"/>
            </a:avLst>
          </a:prstGeom>
          <a:ln/>
        </p:spPr>
      </p:sp>
      <p:sp>
        <p:nvSpPr>
          <p:cNvPr id="12" name="Text 10"/>
          <p:cNvSpPr txBox="1"/>
          <p:nvPr/>
        </p:nvSpPr>
        <p:spPr>
          <a:xfrm>
            <a:off x="82296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TOTALMENTE EN DESACUERDO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TOTALMENTE DE ACUERDO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Colócate en el aula. Pensad: ¿qué alternativas éticas existen antes de llegar a esa opción?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922776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922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 ANTES DE RENDIRSE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Opciones éticas ante una mudanza complicada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44268"/>
            <a:ext cx="512064" cy="512064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28252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piso que admita mascotas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condición más a la hora de elegir vivienda, no un imprevisto de última hora.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035808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259836"/>
            <a:ext cx="512064" cy="512064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39809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145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Recurrir a familiares o amigos de confianza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4930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acogida temporal o definitiva con alguien conocido es mejor que un abandono improvisado.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4151376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375404"/>
            <a:ext cx="512064" cy="512064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5136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2611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Contactar con una protectora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6085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traspaso responsable y gestionado siempre es preferible a "regalarlo a quien sea".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284171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2841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REFLEXIONAR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ética no siempre es cómoda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10881360" cy="2011680"/>
          </a:xfrm>
          <a:prstGeom prst="roundRect">
            <a:avLst>
              <a:gd name="adj" fmla="val 8182"/>
            </a:avLst>
          </a:prstGeom>
          <a:solidFill>
            <a:srgbClr val="F1E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508199"/>
            <a:ext cx="378562" cy="37856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20240" y="210312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"Tomar una buena decisión no siempre es la más fácil ni la más barata. A veces es, simplemente, la más responsable."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881360" cy="1463040"/>
          </a:xfrm>
          <a:prstGeom prst="roundRect">
            <a:avLst>
              <a:gd name="adj" fmla="val 11250"/>
            </a:avLst>
          </a:prstGeom>
          <a:solidFill>
            <a:srgbClr val="DDF7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2062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dilemas de hoy no tenían una única respuesta correcta — pero sí decisiones más y menos responsables.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PONTE A PRUEBA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seguir, comprobamos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057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¿Quién es el responsable legal de un animal si su "dueño" es menor de edad?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560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Sus padres o tutores legales.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410712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5478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¿Es lo mismo ignorancia que maltrato intencionado?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050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No — la forma de actuar puede variar, pero el bienestar del animal sigue siendo la prioridad.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901184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3834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¿Qué deberíamos hacer antes de una mudanza si tenemos un animal?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54126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Buscar activamente alternativas (piso que admita mascotas, familiares, protectoras) antes de considerar el abandono.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24248" y="5029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DF7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24248" y="502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UNIDAD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8016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debate no termina aquí.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toca poner números sobre la mesa.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523848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próxima unidad: la simulación económica "Adoptar a Luna".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078328" y="3749040"/>
            <a:ext cx="6035040" cy="59436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078328" y="37490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SIGUIENTE: UNIDAD 4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2026-09-20T21:23:05Z</dcterms:created>
  <dcterms:modified xsi:type="dcterms:W3CDTF">2026-09-20T21:23:05Z</dcterms:modified>
</cp:coreProperties>
</file>